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fp32 head (reference)</c:v>
                </c:pt>
              </c:strCache>
            </c:strRef>
          </c:tx>
          <c:spPr>
            <a:solidFill>
              <a:srgbClr val="8C8C8C"/>
            </a:solidFill>
            <a:ln w="19050" cap="flat">
              <a:solidFill>
                <a:srgbClr val="8C8C8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Sheet1!$A$2:$A$201</c:f>
              <c:multiLvlStrCache>
                <c:ptCount val="20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  <c:pt idx="80">
                    <c:v>81</c:v>
                  </c:pt>
                  <c:pt idx="81">
                    <c:v>82</c:v>
                  </c:pt>
                  <c:pt idx="82">
                    <c:v>83</c:v>
                  </c:pt>
                  <c:pt idx="83">
                    <c:v>84</c:v>
                  </c:pt>
                  <c:pt idx="84">
                    <c:v>85</c:v>
                  </c:pt>
                  <c:pt idx="85">
                    <c:v>86</c:v>
                  </c:pt>
                  <c:pt idx="86">
                    <c:v>87</c:v>
                  </c:pt>
                  <c:pt idx="87">
                    <c:v>88</c:v>
                  </c:pt>
                  <c:pt idx="88">
                    <c:v>89</c:v>
                  </c:pt>
                  <c:pt idx="89">
                    <c:v>90</c:v>
                  </c:pt>
                  <c:pt idx="90">
                    <c:v>91</c:v>
                  </c:pt>
                  <c:pt idx="91">
                    <c:v>92</c:v>
                  </c:pt>
                  <c:pt idx="92">
                    <c:v>93</c:v>
                  </c:pt>
                  <c:pt idx="93">
                    <c:v>94</c:v>
                  </c:pt>
                  <c:pt idx="94">
                    <c:v>95</c:v>
                  </c:pt>
                  <c:pt idx="95">
                    <c:v>96</c:v>
                  </c:pt>
                  <c:pt idx="96">
                    <c:v>97</c:v>
                  </c:pt>
                  <c:pt idx="97">
                    <c:v>98</c:v>
                  </c:pt>
                  <c:pt idx="98">
                    <c:v>99</c:v>
                  </c:pt>
                  <c:pt idx="99">
                    <c:v>100</c:v>
                  </c:pt>
                  <c:pt idx="100">
                    <c:v>101</c:v>
                  </c:pt>
                  <c:pt idx="101">
                    <c:v>102</c:v>
                  </c:pt>
                  <c:pt idx="102">
                    <c:v>103</c:v>
                  </c:pt>
                  <c:pt idx="103">
                    <c:v>104</c:v>
                  </c:pt>
                  <c:pt idx="104">
                    <c:v>105</c:v>
                  </c:pt>
                  <c:pt idx="105">
                    <c:v>106</c:v>
                  </c:pt>
                  <c:pt idx="106">
                    <c:v>107</c:v>
                  </c:pt>
                  <c:pt idx="107">
                    <c:v>108</c:v>
                  </c:pt>
                  <c:pt idx="108">
                    <c:v>109</c:v>
                  </c:pt>
                  <c:pt idx="109">
                    <c:v>110</c:v>
                  </c:pt>
                  <c:pt idx="110">
                    <c:v>111</c:v>
                  </c:pt>
                  <c:pt idx="111">
                    <c:v>112</c:v>
                  </c:pt>
                  <c:pt idx="112">
                    <c:v>113</c:v>
                  </c:pt>
                  <c:pt idx="113">
                    <c:v>114</c:v>
                  </c:pt>
                  <c:pt idx="114">
                    <c:v>115</c:v>
                  </c:pt>
                  <c:pt idx="115">
                    <c:v>116</c:v>
                  </c:pt>
                  <c:pt idx="116">
                    <c:v>117</c:v>
                  </c:pt>
                  <c:pt idx="117">
                    <c:v>118</c:v>
                  </c:pt>
                  <c:pt idx="118">
                    <c:v>119</c:v>
                  </c:pt>
                  <c:pt idx="119">
                    <c:v>120</c:v>
                  </c:pt>
                  <c:pt idx="120">
                    <c:v>121</c:v>
                  </c:pt>
                  <c:pt idx="121">
                    <c:v>122</c:v>
                  </c:pt>
                  <c:pt idx="122">
                    <c:v>123</c:v>
                  </c:pt>
                  <c:pt idx="123">
                    <c:v>124</c:v>
                  </c:pt>
                  <c:pt idx="124">
                    <c:v>125</c:v>
                  </c:pt>
                  <c:pt idx="125">
                    <c:v>126</c:v>
                  </c:pt>
                  <c:pt idx="126">
                    <c:v>127</c:v>
                  </c:pt>
                  <c:pt idx="127">
                    <c:v>128</c:v>
                  </c:pt>
                  <c:pt idx="128">
                    <c:v>129</c:v>
                  </c:pt>
                  <c:pt idx="129">
                    <c:v>130</c:v>
                  </c:pt>
                  <c:pt idx="130">
                    <c:v>131</c:v>
                  </c:pt>
                  <c:pt idx="131">
                    <c:v>132</c:v>
                  </c:pt>
                  <c:pt idx="132">
                    <c:v>133</c:v>
                  </c:pt>
                  <c:pt idx="133">
                    <c:v>134</c:v>
                  </c:pt>
                  <c:pt idx="134">
                    <c:v>135</c:v>
                  </c:pt>
                  <c:pt idx="135">
                    <c:v>136</c:v>
                  </c:pt>
                  <c:pt idx="136">
                    <c:v>137</c:v>
                  </c:pt>
                  <c:pt idx="137">
                    <c:v>138</c:v>
                  </c:pt>
                  <c:pt idx="138">
                    <c:v>139</c:v>
                  </c:pt>
                  <c:pt idx="139">
                    <c:v>140</c:v>
                  </c:pt>
                  <c:pt idx="140">
                    <c:v>141</c:v>
                  </c:pt>
                  <c:pt idx="141">
                    <c:v>142</c:v>
                  </c:pt>
                  <c:pt idx="142">
                    <c:v>143</c:v>
                  </c:pt>
                  <c:pt idx="143">
                    <c:v>144</c:v>
                  </c:pt>
                  <c:pt idx="144">
                    <c:v>145</c:v>
                  </c:pt>
                  <c:pt idx="145">
                    <c:v>146</c:v>
                  </c:pt>
                  <c:pt idx="146">
                    <c:v>147</c:v>
                  </c:pt>
                  <c:pt idx="147">
                    <c:v>148</c:v>
                  </c:pt>
                  <c:pt idx="148">
                    <c:v>149</c:v>
                  </c:pt>
                  <c:pt idx="149">
                    <c:v>150</c:v>
                  </c:pt>
                  <c:pt idx="150">
                    <c:v>151</c:v>
                  </c:pt>
                  <c:pt idx="151">
                    <c:v>152</c:v>
                  </c:pt>
                  <c:pt idx="152">
                    <c:v>153</c:v>
                  </c:pt>
                  <c:pt idx="153">
                    <c:v>154</c:v>
                  </c:pt>
                  <c:pt idx="154">
                    <c:v>155</c:v>
                  </c:pt>
                  <c:pt idx="155">
                    <c:v>156</c:v>
                  </c:pt>
                  <c:pt idx="156">
                    <c:v>157</c:v>
                  </c:pt>
                  <c:pt idx="157">
                    <c:v>158</c:v>
                  </c:pt>
                  <c:pt idx="158">
                    <c:v>159</c:v>
                  </c:pt>
                  <c:pt idx="159">
                    <c:v>160</c:v>
                  </c:pt>
                  <c:pt idx="160">
                    <c:v>161</c:v>
                  </c:pt>
                  <c:pt idx="161">
                    <c:v>162</c:v>
                  </c:pt>
                  <c:pt idx="162">
                    <c:v>163</c:v>
                  </c:pt>
                  <c:pt idx="163">
                    <c:v>164</c:v>
                  </c:pt>
                  <c:pt idx="164">
                    <c:v>165</c:v>
                  </c:pt>
                  <c:pt idx="165">
                    <c:v>166</c:v>
                  </c:pt>
                  <c:pt idx="166">
                    <c:v>167</c:v>
                  </c:pt>
                  <c:pt idx="167">
                    <c:v>168</c:v>
                  </c:pt>
                  <c:pt idx="168">
                    <c:v>169</c:v>
                  </c:pt>
                  <c:pt idx="169">
                    <c:v>170</c:v>
                  </c:pt>
                  <c:pt idx="170">
                    <c:v>171</c:v>
                  </c:pt>
                  <c:pt idx="171">
                    <c:v>172</c:v>
                  </c:pt>
                  <c:pt idx="172">
                    <c:v>173</c:v>
                  </c:pt>
                  <c:pt idx="173">
                    <c:v>174</c:v>
                  </c:pt>
                  <c:pt idx="174">
                    <c:v>175</c:v>
                  </c:pt>
                  <c:pt idx="175">
                    <c:v>176</c:v>
                  </c:pt>
                  <c:pt idx="176">
                    <c:v>177</c:v>
                  </c:pt>
                  <c:pt idx="177">
                    <c:v>178</c:v>
                  </c:pt>
                  <c:pt idx="178">
                    <c:v>179</c:v>
                  </c:pt>
                  <c:pt idx="179">
                    <c:v>180</c:v>
                  </c:pt>
                  <c:pt idx="180">
                    <c:v>181</c:v>
                  </c:pt>
                  <c:pt idx="181">
                    <c:v>182</c:v>
                  </c:pt>
                  <c:pt idx="182">
                    <c:v>183</c:v>
                  </c:pt>
                  <c:pt idx="183">
                    <c:v>184</c:v>
                  </c:pt>
                  <c:pt idx="184">
                    <c:v>185</c:v>
                  </c:pt>
                  <c:pt idx="185">
                    <c:v>186</c:v>
                  </c:pt>
                  <c:pt idx="186">
                    <c:v>187</c:v>
                  </c:pt>
                  <c:pt idx="187">
                    <c:v>188</c:v>
                  </c:pt>
                  <c:pt idx="188">
                    <c:v>189</c:v>
                  </c:pt>
                  <c:pt idx="189">
                    <c:v>190</c:v>
                  </c:pt>
                  <c:pt idx="190">
                    <c:v>191</c:v>
                  </c:pt>
                  <c:pt idx="191">
                    <c:v>192</c:v>
                  </c:pt>
                  <c:pt idx="192">
                    <c:v>193</c:v>
                  </c:pt>
                  <c:pt idx="193">
                    <c:v>194</c:v>
                  </c:pt>
                  <c:pt idx="194">
                    <c:v>195</c:v>
                  </c:pt>
                  <c:pt idx="195">
                    <c:v>196</c:v>
                  </c:pt>
                  <c:pt idx="196">
                    <c:v>197</c:v>
                  </c:pt>
                  <c:pt idx="197">
                    <c:v>198</c:v>
                  </c:pt>
                  <c:pt idx="198">
                    <c:v>199</c:v>
                  </c:pt>
                  <c:pt idx="199">
                    <c:v>200</c:v>
                  </c:pt>
                </c:lvl>
              </c:multiLvlStrCache>
            </c:multiLvlStrRef>
          </c:cat>
          <c:val>
            <c:numRef>
              <c:f>Sheet1!$B$2:$B$201</c:f>
              <c:numCache>
                <c:formatCode>General</c:formatCode>
                <c:ptCount val="200"/>
                <c:pt idx="0">
                  <c:v>1.4121527671813965</c:v>
                </c:pt>
                <c:pt idx="1">
                  <c:v>1.3194897174835205</c:v>
                </c:pt>
                <c:pt idx="2">
                  <c:v>1.2806522846221924</c:v>
                </c:pt>
                <c:pt idx="3">
                  <c:v>1.4192084074020386</c:v>
                </c:pt>
                <c:pt idx="4">
                  <c:v>1.2832305431365967</c:v>
                </c:pt>
                <c:pt idx="5">
                  <c:v>1.4357311725616455</c:v>
                </c:pt>
                <c:pt idx="6">
                  <c:v>1.3565083742141724</c:v>
                </c:pt>
                <c:pt idx="7">
                  <c:v>1.252800464630127</c:v>
                </c:pt>
                <c:pt idx="8">
                  <c:v>1.5194743871688843</c:v>
                </c:pt>
                <c:pt idx="9">
                  <c:v>1.2733402252197266</c:v>
                </c:pt>
                <c:pt idx="10">
                  <c:v>1.3320759534835815</c:v>
                </c:pt>
                <c:pt idx="11">
                  <c:v>1.2384262084960938</c:v>
                </c:pt>
                <c:pt idx="12">
                  <c:v>1.331701636314392</c:v>
                </c:pt>
                <c:pt idx="13">
                  <c:v>1.3373163938522339</c:v>
                </c:pt>
                <c:pt idx="14">
                  <c:v>1.3059637546539307</c:v>
                </c:pt>
                <c:pt idx="15">
                  <c:v>1.2304404973983765</c:v>
                </c:pt>
                <c:pt idx="16">
                  <c:v>1.2504774332046509</c:v>
                </c:pt>
                <c:pt idx="17">
                  <c:v>1.3071314096450806</c:v>
                </c:pt>
                <c:pt idx="18">
                  <c:v>1.2650794982910156</c:v>
                </c:pt>
                <c:pt idx="19">
                  <c:v>1.3371632099151611</c:v>
                </c:pt>
                <c:pt idx="20">
                  <c:v>1.2505412101745605</c:v>
                </c:pt>
                <c:pt idx="21">
                  <c:v>1.217968463897705</c:v>
                </c:pt>
                <c:pt idx="22">
                  <c:v>1.229660987854004</c:v>
                </c:pt>
                <c:pt idx="23">
                  <c:v>1.2854982614517212</c:v>
                </c:pt>
                <c:pt idx="24">
                  <c:v>1.307376503944397</c:v>
                </c:pt>
                <c:pt idx="25">
                  <c:v>1.2500832080841064</c:v>
                </c:pt>
                <c:pt idx="26">
                  <c:v>1.186734914779663</c:v>
                </c:pt>
                <c:pt idx="27">
                  <c:v>1.2885030508041382</c:v>
                </c:pt>
                <c:pt idx="28">
                  <c:v>1.1829630136489868</c:v>
                </c:pt>
                <c:pt idx="29">
                  <c:v>1.203500747680664</c:v>
                </c:pt>
                <c:pt idx="30">
                  <c:v>1.2791751623153687</c:v>
                </c:pt>
                <c:pt idx="31">
                  <c:v>1.1560218334197998</c:v>
                </c:pt>
                <c:pt idx="32">
                  <c:v>1.2223567962646484</c:v>
                </c:pt>
                <c:pt idx="33">
                  <c:v>1.2153176069259644</c:v>
                </c:pt>
                <c:pt idx="34">
                  <c:v>1.265949010848999</c:v>
                </c:pt>
                <c:pt idx="35">
                  <c:v>1.1965259313583374</c:v>
                </c:pt>
                <c:pt idx="36">
                  <c:v>1.1170250177383423</c:v>
                </c:pt>
                <c:pt idx="37">
                  <c:v>1.2215557098388672</c:v>
                </c:pt>
                <c:pt idx="38">
                  <c:v>1.165437936782837</c:v>
                </c:pt>
                <c:pt idx="39">
                  <c:v>1.1495826244354248</c:v>
                </c:pt>
                <c:pt idx="40">
                  <c:v>1.1819376945495605</c:v>
                </c:pt>
                <c:pt idx="41">
                  <c:v>1.0881881713867188</c:v>
                </c:pt>
                <c:pt idx="42">
                  <c:v>1.1222528219223022</c:v>
                </c:pt>
                <c:pt idx="43">
                  <c:v>1.0755877494812012</c:v>
                </c:pt>
                <c:pt idx="44">
                  <c:v>1.0528324842453003</c:v>
                </c:pt>
                <c:pt idx="45">
                  <c:v>1.1442241668701172</c:v>
                </c:pt>
                <c:pt idx="46">
                  <c:v>1.013492465019226</c:v>
                </c:pt>
                <c:pt idx="47">
                  <c:v>1.0411361455917358</c:v>
                </c:pt>
                <c:pt idx="48">
                  <c:v>1.0412721633911133</c:v>
                </c:pt>
                <c:pt idx="49">
                  <c:v>1.0475513935089111</c:v>
                </c:pt>
                <c:pt idx="50">
                  <c:v>0.9948570728302002</c:v>
                </c:pt>
                <c:pt idx="51">
                  <c:v>1.005023717880249</c:v>
                </c:pt>
                <c:pt idx="52">
                  <c:v>1.0605255365371704</c:v>
                </c:pt>
                <c:pt idx="53">
                  <c:v>0.961317777633667</c:v>
                </c:pt>
                <c:pt idx="54">
                  <c:v>1.0024226903915405</c:v>
                </c:pt>
                <c:pt idx="55">
                  <c:v>1.0241470336914062</c:v>
                </c:pt>
                <c:pt idx="56">
                  <c:v>0.8706899285316467</c:v>
                </c:pt>
                <c:pt idx="57">
                  <c:v>0.9704888463020325</c:v>
                </c:pt>
                <c:pt idx="58">
                  <c:v>0.8054358959197998</c:v>
                </c:pt>
                <c:pt idx="59">
                  <c:v>0.9674917459487915</c:v>
                </c:pt>
                <c:pt idx="60">
                  <c:v>0.7438216805458069</c:v>
                </c:pt>
                <c:pt idx="61">
                  <c:v>0.7216938734054565</c:v>
                </c:pt>
                <c:pt idx="62">
                  <c:v>0.8003250956535339</c:v>
                </c:pt>
                <c:pt idx="63">
                  <c:v>0.8674685955047607</c:v>
                </c:pt>
                <c:pt idx="64">
                  <c:v>0.6158168315887451</c:v>
                </c:pt>
                <c:pt idx="65">
                  <c:v>0.6682757139205933</c:v>
                </c:pt>
                <c:pt idx="66">
                  <c:v>0.7302712202072144</c:v>
                </c:pt>
                <c:pt idx="67">
                  <c:v>0.8801192045211792</c:v>
                </c:pt>
                <c:pt idx="68">
                  <c:v>0.7808986902236938</c:v>
                </c:pt>
                <c:pt idx="69">
                  <c:v>0.6851008534431458</c:v>
                </c:pt>
                <c:pt idx="70">
                  <c:v>0.7181625962257385</c:v>
                </c:pt>
                <c:pt idx="71">
                  <c:v>0.6720817685127258</c:v>
                </c:pt>
                <c:pt idx="72">
                  <c:v>0.6625425219535828</c:v>
                </c:pt>
                <c:pt idx="73">
                  <c:v>0.9026575088500977</c:v>
                </c:pt>
                <c:pt idx="74">
                  <c:v>0.7012521624565125</c:v>
                </c:pt>
                <c:pt idx="75">
                  <c:v>0.576267421245575</c:v>
                </c:pt>
                <c:pt idx="76">
                  <c:v>0.6958467364311218</c:v>
                </c:pt>
                <c:pt idx="77">
                  <c:v>0.6293869018554688</c:v>
                </c:pt>
                <c:pt idx="78">
                  <c:v>0.7244704961776733</c:v>
                </c:pt>
                <c:pt idx="79">
                  <c:v>0.506386935710907</c:v>
                </c:pt>
                <c:pt idx="80">
                  <c:v>0.6705743670463562</c:v>
                </c:pt>
                <c:pt idx="81">
                  <c:v>0.6940733194351196</c:v>
                </c:pt>
                <c:pt idx="82">
                  <c:v>0.5925152897834778</c:v>
                </c:pt>
                <c:pt idx="83">
                  <c:v>0.4370642602443695</c:v>
                </c:pt>
                <c:pt idx="84">
                  <c:v>0.4757087230682373</c:v>
                </c:pt>
                <c:pt idx="85">
                  <c:v>0.7262538075447083</c:v>
                </c:pt>
                <c:pt idx="86">
                  <c:v>0.5676386952400208</c:v>
                </c:pt>
                <c:pt idx="87">
                  <c:v>0.6170207262039185</c:v>
                </c:pt>
                <c:pt idx="88">
                  <c:v>0.5042673945426941</c:v>
                </c:pt>
                <c:pt idx="89">
                  <c:v>0.440173864364624</c:v>
                </c:pt>
                <c:pt idx="90">
                  <c:v>0.42673876881599426</c:v>
                </c:pt>
                <c:pt idx="91">
                  <c:v>0.4895144999027252</c:v>
                </c:pt>
                <c:pt idx="92">
                  <c:v>0.7935603260993958</c:v>
                </c:pt>
                <c:pt idx="93">
                  <c:v>0.5427626371383667</c:v>
                </c:pt>
                <c:pt idx="94">
                  <c:v>0.5551331639289856</c:v>
                </c:pt>
                <c:pt idx="95">
                  <c:v>0.6209218502044678</c:v>
                </c:pt>
                <c:pt idx="96">
                  <c:v>0.5255848169326782</c:v>
                </c:pt>
                <c:pt idx="97">
                  <c:v>0.4417687952518463</c:v>
                </c:pt>
                <c:pt idx="98">
                  <c:v>0.5286199450492859</c:v>
                </c:pt>
                <c:pt idx="99">
                  <c:v>0.6228020787239075</c:v>
                </c:pt>
                <c:pt idx="100">
                  <c:v>0.49651235342025757</c:v>
                </c:pt>
                <c:pt idx="101">
                  <c:v>0.4003590941429138</c:v>
                </c:pt>
                <c:pt idx="102">
                  <c:v>0.4053182303905487</c:v>
                </c:pt>
                <c:pt idx="103">
                  <c:v>0.5210577249526978</c:v>
                </c:pt>
                <c:pt idx="104">
                  <c:v>0.5633171200752258</c:v>
                </c:pt>
                <c:pt idx="105">
                  <c:v>0.45053234696388245</c:v>
                </c:pt>
                <c:pt idx="106">
                  <c:v>0.5492932796478271</c:v>
                </c:pt>
                <c:pt idx="107">
                  <c:v>0.47815656661987305</c:v>
                </c:pt>
                <c:pt idx="108">
                  <c:v>0.5494276285171509</c:v>
                </c:pt>
                <c:pt idx="109">
                  <c:v>0.38743653893470764</c:v>
                </c:pt>
                <c:pt idx="110">
                  <c:v>0.4746885895729065</c:v>
                </c:pt>
                <c:pt idx="111">
                  <c:v>0.6328152418136597</c:v>
                </c:pt>
                <c:pt idx="112">
                  <c:v>0.5429799556732178</c:v>
                </c:pt>
                <c:pt idx="113">
                  <c:v>0.40027686953544617</c:v>
                </c:pt>
                <c:pt idx="114">
                  <c:v>0.5283844470977783</c:v>
                </c:pt>
                <c:pt idx="115">
                  <c:v>0.39793288707733154</c:v>
                </c:pt>
                <c:pt idx="116">
                  <c:v>0.4404173493385315</c:v>
                </c:pt>
                <c:pt idx="117">
                  <c:v>0.5121740102767944</c:v>
                </c:pt>
                <c:pt idx="118">
                  <c:v>0.5731610059738159</c:v>
                </c:pt>
                <c:pt idx="119">
                  <c:v>0.5426590442657471</c:v>
                </c:pt>
                <c:pt idx="120">
                  <c:v>0.5680711269378662</c:v>
                </c:pt>
                <c:pt idx="121">
                  <c:v>0.4569605588912964</c:v>
                </c:pt>
                <c:pt idx="122">
                  <c:v>0.47034817934036255</c:v>
                </c:pt>
                <c:pt idx="123">
                  <c:v>0.41362980008125305</c:v>
                </c:pt>
                <c:pt idx="124">
                  <c:v>0.277024507522583</c:v>
                </c:pt>
                <c:pt idx="125">
                  <c:v>0.4429630637168884</c:v>
                </c:pt>
                <c:pt idx="126">
                  <c:v>0.4789706766605377</c:v>
                </c:pt>
                <c:pt idx="127">
                  <c:v>0.33369913697242737</c:v>
                </c:pt>
                <c:pt idx="128">
                  <c:v>0.4174603819847107</c:v>
                </c:pt>
                <c:pt idx="129">
                  <c:v>0.28486984968185425</c:v>
                </c:pt>
                <c:pt idx="130">
                  <c:v>0.39277058839797974</c:v>
                </c:pt>
                <c:pt idx="131">
                  <c:v>0.3265286386013031</c:v>
                </c:pt>
                <c:pt idx="132">
                  <c:v>0.3989945948123932</c:v>
                </c:pt>
                <c:pt idx="133">
                  <c:v>0.458082914352417</c:v>
                </c:pt>
                <c:pt idx="134">
                  <c:v>0.4210624098777771</c:v>
                </c:pt>
                <c:pt idx="135">
                  <c:v>0.3008286654949188</c:v>
                </c:pt>
                <c:pt idx="136">
                  <c:v>0.3467192053794861</c:v>
                </c:pt>
                <c:pt idx="137">
                  <c:v>0.33319899439811707</c:v>
                </c:pt>
                <c:pt idx="138">
                  <c:v>0.41055262088775635</c:v>
                </c:pt>
                <c:pt idx="139">
                  <c:v>0.4121587574481964</c:v>
                </c:pt>
                <c:pt idx="140">
                  <c:v>0.3992982506752014</c:v>
                </c:pt>
                <c:pt idx="141">
                  <c:v>0.25365209579467773</c:v>
                </c:pt>
                <c:pt idx="142">
                  <c:v>0.5339560508728027</c:v>
                </c:pt>
                <c:pt idx="143">
                  <c:v>0.41845574975013733</c:v>
                </c:pt>
                <c:pt idx="144">
                  <c:v>0.5512003302574158</c:v>
                </c:pt>
                <c:pt idx="145">
                  <c:v>0.6220194697380066</c:v>
                </c:pt>
                <c:pt idx="146">
                  <c:v>0.4980643391609192</c:v>
                </c:pt>
                <c:pt idx="147">
                  <c:v>0.300197035074234</c:v>
                </c:pt>
                <c:pt idx="148">
                  <c:v>0.4010825455188751</c:v>
                </c:pt>
                <c:pt idx="149">
                  <c:v>0.48600900173187256</c:v>
                </c:pt>
                <c:pt idx="150">
                  <c:v>0.5985763072967529</c:v>
                </c:pt>
                <c:pt idx="151">
                  <c:v>0.5420645475387573</c:v>
                </c:pt>
                <c:pt idx="152">
                  <c:v>0.4472673535346985</c:v>
                </c:pt>
                <c:pt idx="153">
                  <c:v>0.37010976672172546</c:v>
                </c:pt>
                <c:pt idx="154">
                  <c:v>0.412883460521698</c:v>
                </c:pt>
                <c:pt idx="155">
                  <c:v>0.5303714275360107</c:v>
                </c:pt>
                <c:pt idx="156">
                  <c:v>0.35756322741508484</c:v>
                </c:pt>
                <c:pt idx="157">
                  <c:v>0.4494258165359497</c:v>
                </c:pt>
                <c:pt idx="158">
                  <c:v>0.2942168414592743</c:v>
                </c:pt>
                <c:pt idx="159">
                  <c:v>0.2428925633430481</c:v>
                </c:pt>
                <c:pt idx="160">
                  <c:v>0.3907972574234009</c:v>
                </c:pt>
                <c:pt idx="161">
                  <c:v>0.361945241689682</c:v>
                </c:pt>
                <c:pt idx="162">
                  <c:v>0.34257858991622925</c:v>
                </c:pt>
                <c:pt idx="163">
                  <c:v>0.3013395667076111</c:v>
                </c:pt>
                <c:pt idx="164">
                  <c:v>0.49613261222839355</c:v>
                </c:pt>
                <c:pt idx="165">
                  <c:v>0.4244040846824646</c:v>
                </c:pt>
                <c:pt idx="166">
                  <c:v>0.28745776414871216</c:v>
                </c:pt>
                <c:pt idx="167">
                  <c:v>0.3840872049331665</c:v>
                </c:pt>
                <c:pt idx="168">
                  <c:v>0.39906132221221924</c:v>
                </c:pt>
                <c:pt idx="169">
                  <c:v>0.3684556782245636</c:v>
                </c:pt>
                <c:pt idx="170">
                  <c:v>0.3180481791496277</c:v>
                </c:pt>
                <c:pt idx="171">
                  <c:v>0.3758540451526642</c:v>
                </c:pt>
                <c:pt idx="172">
                  <c:v>0.37695610523223877</c:v>
                </c:pt>
                <c:pt idx="173">
                  <c:v>0.4208378493785858</c:v>
                </c:pt>
                <c:pt idx="174">
                  <c:v>0.37275946140289307</c:v>
                </c:pt>
                <c:pt idx="175">
                  <c:v>0.32508769631385803</c:v>
                </c:pt>
                <c:pt idx="176">
                  <c:v>0.3423583209514618</c:v>
                </c:pt>
                <c:pt idx="177">
                  <c:v>0.2969907522201538</c:v>
                </c:pt>
                <c:pt idx="178">
                  <c:v>0.40334540605545044</c:v>
                </c:pt>
                <c:pt idx="179">
                  <c:v>0.2761480212211609</c:v>
                </c:pt>
                <c:pt idx="180">
                  <c:v>0.35134920477867126</c:v>
                </c:pt>
                <c:pt idx="181">
                  <c:v>0.3536730706691742</c:v>
                </c:pt>
                <c:pt idx="182">
                  <c:v>0.42120078206062317</c:v>
                </c:pt>
                <c:pt idx="183">
                  <c:v>0.4458978474140167</c:v>
                </c:pt>
                <c:pt idx="184">
                  <c:v>0.33503806591033936</c:v>
                </c:pt>
                <c:pt idx="185">
                  <c:v>0.3541510999202728</c:v>
                </c:pt>
                <c:pt idx="186">
                  <c:v>0.45738643407821655</c:v>
                </c:pt>
                <c:pt idx="187">
                  <c:v>0.4092797338962555</c:v>
                </c:pt>
                <c:pt idx="188">
                  <c:v>0.3843674957752228</c:v>
                </c:pt>
                <c:pt idx="189">
                  <c:v>0.31482622027397156</c:v>
                </c:pt>
                <c:pt idx="190">
                  <c:v>0.3755398988723755</c:v>
                </c:pt>
                <c:pt idx="191">
                  <c:v>0.45984578132629395</c:v>
                </c:pt>
                <c:pt idx="192">
                  <c:v>0.4228910803794861</c:v>
                </c:pt>
                <c:pt idx="193">
                  <c:v>0.32582709193229675</c:v>
                </c:pt>
                <c:pt idx="194">
                  <c:v>0.40240147709846497</c:v>
                </c:pt>
                <c:pt idx="195">
                  <c:v>0.2910860776901245</c:v>
                </c:pt>
                <c:pt idx="196">
                  <c:v>0.39708730578422546</c:v>
                </c:pt>
                <c:pt idx="197">
                  <c:v>0.3256818950176239</c:v>
                </c:pt>
                <c:pt idx="198">
                  <c:v>0.5256005525588989</c:v>
                </c:pt>
                <c:pt idx="199">
                  <c:v>0.549227237701416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bf16 head (ours)</c:v>
                </c:pt>
              </c:strCache>
            </c:strRef>
          </c:tx>
          <c:spPr>
            <a:solidFill>
              <a:srgbClr val="76B900"/>
            </a:solidFill>
            <a:ln w="19050" cap="flat">
              <a:solidFill>
                <a:srgbClr val="76B9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6B900"/>
              </a:solidFill>
              <a:ln w="9525" cap="flat">
                <a:solidFill>
                  <a:srgbClr val="76B9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Sheet1!$A$2:$A$201</c:f>
              <c:multiLvlStrCache>
                <c:ptCount val="20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  <c:pt idx="80">
                    <c:v>81</c:v>
                  </c:pt>
                  <c:pt idx="81">
                    <c:v>82</c:v>
                  </c:pt>
                  <c:pt idx="82">
                    <c:v>83</c:v>
                  </c:pt>
                  <c:pt idx="83">
                    <c:v>84</c:v>
                  </c:pt>
                  <c:pt idx="84">
                    <c:v>85</c:v>
                  </c:pt>
                  <c:pt idx="85">
                    <c:v>86</c:v>
                  </c:pt>
                  <c:pt idx="86">
                    <c:v>87</c:v>
                  </c:pt>
                  <c:pt idx="87">
                    <c:v>88</c:v>
                  </c:pt>
                  <c:pt idx="88">
                    <c:v>89</c:v>
                  </c:pt>
                  <c:pt idx="89">
                    <c:v>90</c:v>
                  </c:pt>
                  <c:pt idx="90">
                    <c:v>91</c:v>
                  </c:pt>
                  <c:pt idx="91">
                    <c:v>92</c:v>
                  </c:pt>
                  <c:pt idx="92">
                    <c:v>93</c:v>
                  </c:pt>
                  <c:pt idx="93">
                    <c:v>94</c:v>
                  </c:pt>
                  <c:pt idx="94">
                    <c:v>95</c:v>
                  </c:pt>
                  <c:pt idx="95">
                    <c:v>96</c:v>
                  </c:pt>
                  <c:pt idx="96">
                    <c:v>97</c:v>
                  </c:pt>
                  <c:pt idx="97">
                    <c:v>98</c:v>
                  </c:pt>
                  <c:pt idx="98">
                    <c:v>99</c:v>
                  </c:pt>
                  <c:pt idx="99">
                    <c:v>100</c:v>
                  </c:pt>
                  <c:pt idx="100">
                    <c:v>101</c:v>
                  </c:pt>
                  <c:pt idx="101">
                    <c:v>102</c:v>
                  </c:pt>
                  <c:pt idx="102">
                    <c:v>103</c:v>
                  </c:pt>
                  <c:pt idx="103">
                    <c:v>104</c:v>
                  </c:pt>
                  <c:pt idx="104">
                    <c:v>105</c:v>
                  </c:pt>
                  <c:pt idx="105">
                    <c:v>106</c:v>
                  </c:pt>
                  <c:pt idx="106">
                    <c:v>107</c:v>
                  </c:pt>
                  <c:pt idx="107">
                    <c:v>108</c:v>
                  </c:pt>
                  <c:pt idx="108">
                    <c:v>109</c:v>
                  </c:pt>
                  <c:pt idx="109">
                    <c:v>110</c:v>
                  </c:pt>
                  <c:pt idx="110">
                    <c:v>111</c:v>
                  </c:pt>
                  <c:pt idx="111">
                    <c:v>112</c:v>
                  </c:pt>
                  <c:pt idx="112">
                    <c:v>113</c:v>
                  </c:pt>
                  <c:pt idx="113">
                    <c:v>114</c:v>
                  </c:pt>
                  <c:pt idx="114">
                    <c:v>115</c:v>
                  </c:pt>
                  <c:pt idx="115">
                    <c:v>116</c:v>
                  </c:pt>
                  <c:pt idx="116">
                    <c:v>117</c:v>
                  </c:pt>
                  <c:pt idx="117">
                    <c:v>118</c:v>
                  </c:pt>
                  <c:pt idx="118">
                    <c:v>119</c:v>
                  </c:pt>
                  <c:pt idx="119">
                    <c:v>120</c:v>
                  </c:pt>
                  <c:pt idx="120">
                    <c:v>121</c:v>
                  </c:pt>
                  <c:pt idx="121">
                    <c:v>122</c:v>
                  </c:pt>
                  <c:pt idx="122">
                    <c:v>123</c:v>
                  </c:pt>
                  <c:pt idx="123">
                    <c:v>124</c:v>
                  </c:pt>
                  <c:pt idx="124">
                    <c:v>125</c:v>
                  </c:pt>
                  <c:pt idx="125">
                    <c:v>126</c:v>
                  </c:pt>
                  <c:pt idx="126">
                    <c:v>127</c:v>
                  </c:pt>
                  <c:pt idx="127">
                    <c:v>128</c:v>
                  </c:pt>
                  <c:pt idx="128">
                    <c:v>129</c:v>
                  </c:pt>
                  <c:pt idx="129">
                    <c:v>130</c:v>
                  </c:pt>
                  <c:pt idx="130">
                    <c:v>131</c:v>
                  </c:pt>
                  <c:pt idx="131">
                    <c:v>132</c:v>
                  </c:pt>
                  <c:pt idx="132">
                    <c:v>133</c:v>
                  </c:pt>
                  <c:pt idx="133">
                    <c:v>134</c:v>
                  </c:pt>
                  <c:pt idx="134">
                    <c:v>135</c:v>
                  </c:pt>
                  <c:pt idx="135">
                    <c:v>136</c:v>
                  </c:pt>
                  <c:pt idx="136">
                    <c:v>137</c:v>
                  </c:pt>
                  <c:pt idx="137">
                    <c:v>138</c:v>
                  </c:pt>
                  <c:pt idx="138">
                    <c:v>139</c:v>
                  </c:pt>
                  <c:pt idx="139">
                    <c:v>140</c:v>
                  </c:pt>
                  <c:pt idx="140">
                    <c:v>141</c:v>
                  </c:pt>
                  <c:pt idx="141">
                    <c:v>142</c:v>
                  </c:pt>
                  <c:pt idx="142">
                    <c:v>143</c:v>
                  </c:pt>
                  <c:pt idx="143">
                    <c:v>144</c:v>
                  </c:pt>
                  <c:pt idx="144">
                    <c:v>145</c:v>
                  </c:pt>
                  <c:pt idx="145">
                    <c:v>146</c:v>
                  </c:pt>
                  <c:pt idx="146">
                    <c:v>147</c:v>
                  </c:pt>
                  <c:pt idx="147">
                    <c:v>148</c:v>
                  </c:pt>
                  <c:pt idx="148">
                    <c:v>149</c:v>
                  </c:pt>
                  <c:pt idx="149">
                    <c:v>150</c:v>
                  </c:pt>
                  <c:pt idx="150">
                    <c:v>151</c:v>
                  </c:pt>
                  <c:pt idx="151">
                    <c:v>152</c:v>
                  </c:pt>
                  <c:pt idx="152">
                    <c:v>153</c:v>
                  </c:pt>
                  <c:pt idx="153">
                    <c:v>154</c:v>
                  </c:pt>
                  <c:pt idx="154">
                    <c:v>155</c:v>
                  </c:pt>
                  <c:pt idx="155">
                    <c:v>156</c:v>
                  </c:pt>
                  <c:pt idx="156">
                    <c:v>157</c:v>
                  </c:pt>
                  <c:pt idx="157">
                    <c:v>158</c:v>
                  </c:pt>
                  <c:pt idx="158">
                    <c:v>159</c:v>
                  </c:pt>
                  <c:pt idx="159">
                    <c:v>160</c:v>
                  </c:pt>
                  <c:pt idx="160">
                    <c:v>161</c:v>
                  </c:pt>
                  <c:pt idx="161">
                    <c:v>162</c:v>
                  </c:pt>
                  <c:pt idx="162">
                    <c:v>163</c:v>
                  </c:pt>
                  <c:pt idx="163">
                    <c:v>164</c:v>
                  </c:pt>
                  <c:pt idx="164">
                    <c:v>165</c:v>
                  </c:pt>
                  <c:pt idx="165">
                    <c:v>166</c:v>
                  </c:pt>
                  <c:pt idx="166">
                    <c:v>167</c:v>
                  </c:pt>
                  <c:pt idx="167">
                    <c:v>168</c:v>
                  </c:pt>
                  <c:pt idx="168">
                    <c:v>169</c:v>
                  </c:pt>
                  <c:pt idx="169">
                    <c:v>170</c:v>
                  </c:pt>
                  <c:pt idx="170">
                    <c:v>171</c:v>
                  </c:pt>
                  <c:pt idx="171">
                    <c:v>172</c:v>
                  </c:pt>
                  <c:pt idx="172">
                    <c:v>173</c:v>
                  </c:pt>
                  <c:pt idx="173">
                    <c:v>174</c:v>
                  </c:pt>
                  <c:pt idx="174">
                    <c:v>175</c:v>
                  </c:pt>
                  <c:pt idx="175">
                    <c:v>176</c:v>
                  </c:pt>
                  <c:pt idx="176">
                    <c:v>177</c:v>
                  </c:pt>
                  <c:pt idx="177">
                    <c:v>178</c:v>
                  </c:pt>
                  <c:pt idx="178">
                    <c:v>179</c:v>
                  </c:pt>
                  <c:pt idx="179">
                    <c:v>180</c:v>
                  </c:pt>
                  <c:pt idx="180">
                    <c:v>181</c:v>
                  </c:pt>
                  <c:pt idx="181">
                    <c:v>182</c:v>
                  </c:pt>
                  <c:pt idx="182">
                    <c:v>183</c:v>
                  </c:pt>
                  <c:pt idx="183">
                    <c:v>184</c:v>
                  </c:pt>
                  <c:pt idx="184">
                    <c:v>185</c:v>
                  </c:pt>
                  <c:pt idx="185">
                    <c:v>186</c:v>
                  </c:pt>
                  <c:pt idx="186">
                    <c:v>187</c:v>
                  </c:pt>
                  <c:pt idx="187">
                    <c:v>188</c:v>
                  </c:pt>
                  <c:pt idx="188">
                    <c:v>189</c:v>
                  </c:pt>
                  <c:pt idx="189">
                    <c:v>190</c:v>
                  </c:pt>
                  <c:pt idx="190">
                    <c:v>191</c:v>
                  </c:pt>
                  <c:pt idx="191">
                    <c:v>192</c:v>
                  </c:pt>
                  <c:pt idx="192">
                    <c:v>193</c:v>
                  </c:pt>
                  <c:pt idx="193">
                    <c:v>194</c:v>
                  </c:pt>
                  <c:pt idx="194">
                    <c:v>195</c:v>
                  </c:pt>
                  <c:pt idx="195">
                    <c:v>196</c:v>
                  </c:pt>
                  <c:pt idx="196">
                    <c:v>197</c:v>
                  </c:pt>
                  <c:pt idx="197">
                    <c:v>198</c:v>
                  </c:pt>
                  <c:pt idx="198">
                    <c:v>199</c:v>
                  </c:pt>
                  <c:pt idx="199">
                    <c:v>200</c:v>
                  </c:pt>
                </c:lvl>
              </c:multiLvlStrCache>
            </c:multiLvlStrRef>
          </c:cat>
          <c:val>
            <c:numRef>
              <c:f>Sheet1!$C$2:$C$201</c:f>
              <c:numCache>
                <c:formatCode>General</c:formatCode>
                <c:ptCount val="200"/>
                <c:pt idx="0">
                  <c:v>1.465155005455017</c:v>
                </c:pt>
                <c:pt idx="1">
                  <c:v>1.527807354927063</c:v>
                </c:pt>
                <c:pt idx="2">
                  <c:v>1.3628437519073486</c:v>
                </c:pt>
                <c:pt idx="3">
                  <c:v>1.5220792293548584</c:v>
                </c:pt>
                <c:pt idx="4">
                  <c:v>1.4716393947601318</c:v>
                </c:pt>
                <c:pt idx="5">
                  <c:v>1.5187989473342896</c:v>
                </c:pt>
                <c:pt idx="6">
                  <c:v>1.4824644327163696</c:v>
                </c:pt>
                <c:pt idx="7">
                  <c:v>1.3255268335342407</c:v>
                </c:pt>
                <c:pt idx="8">
                  <c:v>1.4813257455825806</c:v>
                </c:pt>
                <c:pt idx="9">
                  <c:v>1.4202228784561157</c:v>
                </c:pt>
                <c:pt idx="10">
                  <c:v>1.491762399673462</c:v>
                </c:pt>
                <c:pt idx="11">
                  <c:v>1.399654507637024</c:v>
                </c:pt>
                <c:pt idx="12">
                  <c:v>1.3932831287384033</c:v>
                </c:pt>
                <c:pt idx="13">
                  <c:v>1.463102102279663</c:v>
                </c:pt>
                <c:pt idx="14">
                  <c:v>1.4037917852401733</c:v>
                </c:pt>
                <c:pt idx="15">
                  <c:v>1.3404589891433716</c:v>
                </c:pt>
                <c:pt idx="16">
                  <c:v>1.4142731428146362</c:v>
                </c:pt>
                <c:pt idx="17">
                  <c:v>1.4359033107757568</c:v>
                </c:pt>
                <c:pt idx="18">
                  <c:v>1.345100998878479</c:v>
                </c:pt>
                <c:pt idx="19">
                  <c:v>1.4391796588897705</c:v>
                </c:pt>
                <c:pt idx="20">
                  <c:v>1.3422189950942993</c:v>
                </c:pt>
                <c:pt idx="21">
                  <c:v>1.1635000705718994</c:v>
                </c:pt>
                <c:pt idx="22">
                  <c:v>1.1843440532684326</c:v>
                </c:pt>
                <c:pt idx="23">
                  <c:v>1.2705446481704712</c:v>
                </c:pt>
                <c:pt idx="24">
                  <c:v>1.2976986169815063</c:v>
                </c:pt>
                <c:pt idx="25">
                  <c:v>1.191056728363037</c:v>
                </c:pt>
                <c:pt idx="26">
                  <c:v>1.223349928855896</c:v>
                </c:pt>
                <c:pt idx="27">
                  <c:v>1.2169265747070312</c:v>
                </c:pt>
                <c:pt idx="28">
                  <c:v>1.1450639963150024</c:v>
                </c:pt>
                <c:pt idx="29">
                  <c:v>1.2156018018722534</c:v>
                </c:pt>
                <c:pt idx="30">
                  <c:v>1.304185390472412</c:v>
                </c:pt>
                <c:pt idx="31">
                  <c:v>1.3705390691757202</c:v>
                </c:pt>
                <c:pt idx="32">
                  <c:v>1.3352845907211304</c:v>
                </c:pt>
                <c:pt idx="33">
                  <c:v>1.3373385667800903</c:v>
                </c:pt>
                <c:pt idx="34">
                  <c:v>1.4037827253341675</c:v>
                </c:pt>
                <c:pt idx="35">
                  <c:v>1.38241708278656</c:v>
                </c:pt>
                <c:pt idx="36">
                  <c:v>1.1816176176071167</c:v>
                </c:pt>
                <c:pt idx="37">
                  <c:v>1.2873611450195312</c:v>
                </c:pt>
                <c:pt idx="38">
                  <c:v>1.23562753200531</c:v>
                </c:pt>
                <c:pt idx="39">
                  <c:v>1.2019615173339844</c:v>
                </c:pt>
                <c:pt idx="40">
                  <c:v>1.219366431236267</c:v>
                </c:pt>
                <c:pt idx="41">
                  <c:v>1.074249267578125</c:v>
                </c:pt>
                <c:pt idx="42">
                  <c:v>1.1439054012298584</c:v>
                </c:pt>
                <c:pt idx="43">
                  <c:v>1.0747532844543457</c:v>
                </c:pt>
                <c:pt idx="44">
                  <c:v>1.1052860021591187</c:v>
                </c:pt>
                <c:pt idx="45">
                  <c:v>1.1588023900985718</c:v>
                </c:pt>
                <c:pt idx="46">
                  <c:v>1.0616199970245361</c:v>
                </c:pt>
                <c:pt idx="47">
                  <c:v>1.0234163999557495</c:v>
                </c:pt>
                <c:pt idx="48">
                  <c:v>1.08656907081604</c:v>
                </c:pt>
                <c:pt idx="49">
                  <c:v>1.1343998908996582</c:v>
                </c:pt>
                <c:pt idx="50">
                  <c:v>1.0879141092300415</c:v>
                </c:pt>
                <c:pt idx="51">
                  <c:v>1.056355357170105</c:v>
                </c:pt>
                <c:pt idx="52">
                  <c:v>1.0624960660934448</c:v>
                </c:pt>
                <c:pt idx="53">
                  <c:v>0.99652099609375</c:v>
                </c:pt>
                <c:pt idx="54">
                  <c:v>1.0177422761917114</c:v>
                </c:pt>
                <c:pt idx="55">
                  <c:v>1.08455228805542</c:v>
                </c:pt>
                <c:pt idx="56">
                  <c:v>0.8973181843757629</c:v>
                </c:pt>
                <c:pt idx="57">
                  <c:v>1.0486016273498535</c:v>
                </c:pt>
                <c:pt idx="58">
                  <c:v>0.8536514043807983</c:v>
                </c:pt>
                <c:pt idx="59">
                  <c:v>0.9738008379936218</c:v>
                </c:pt>
                <c:pt idx="60">
                  <c:v>0.7710896134376526</c:v>
                </c:pt>
                <c:pt idx="61">
                  <c:v>0.754205048084259</c:v>
                </c:pt>
                <c:pt idx="62">
                  <c:v>0.8546945452690125</c:v>
                </c:pt>
                <c:pt idx="63">
                  <c:v>0.9045367240905762</c:v>
                </c:pt>
                <c:pt idx="64">
                  <c:v>0.680715024471283</c:v>
                </c:pt>
                <c:pt idx="65">
                  <c:v>0.7250732183456421</c:v>
                </c:pt>
                <c:pt idx="66">
                  <c:v>0.7675344347953796</c:v>
                </c:pt>
                <c:pt idx="67">
                  <c:v>0.8586694002151489</c:v>
                </c:pt>
                <c:pt idx="68">
                  <c:v>0.8278751969337463</c:v>
                </c:pt>
                <c:pt idx="69">
                  <c:v>0.7105873823165894</c:v>
                </c:pt>
                <c:pt idx="70">
                  <c:v>0.7219622731208801</c:v>
                </c:pt>
                <c:pt idx="71">
                  <c:v>0.7096927165985107</c:v>
                </c:pt>
                <c:pt idx="72">
                  <c:v>0.7293614149093628</c:v>
                </c:pt>
                <c:pt idx="73">
                  <c:v>0.8888590931892395</c:v>
                </c:pt>
                <c:pt idx="74">
                  <c:v>0.7104019522666931</c:v>
                </c:pt>
                <c:pt idx="75">
                  <c:v>0.596458375453949</c:v>
                </c:pt>
                <c:pt idx="76">
                  <c:v>0.682534396648407</c:v>
                </c:pt>
                <c:pt idx="77">
                  <c:v>0.6755549907684326</c:v>
                </c:pt>
                <c:pt idx="78">
                  <c:v>0.7193437814712524</c:v>
                </c:pt>
                <c:pt idx="79">
                  <c:v>0.4839799404144287</c:v>
                </c:pt>
                <c:pt idx="80">
                  <c:v>0.6186338663101196</c:v>
                </c:pt>
                <c:pt idx="81">
                  <c:v>0.7172577977180481</c:v>
                </c:pt>
                <c:pt idx="82">
                  <c:v>0.5846574902534485</c:v>
                </c:pt>
                <c:pt idx="83">
                  <c:v>0.4026309549808502</c:v>
                </c:pt>
                <c:pt idx="84">
                  <c:v>0.5094608664512634</c:v>
                </c:pt>
                <c:pt idx="85">
                  <c:v>0.7257950901985168</c:v>
                </c:pt>
                <c:pt idx="86">
                  <c:v>0.6342362761497498</c:v>
                </c:pt>
                <c:pt idx="87">
                  <c:v>0.619391143321991</c:v>
                </c:pt>
                <c:pt idx="88">
                  <c:v>0.5479902029037476</c:v>
                </c:pt>
                <c:pt idx="89">
                  <c:v>0.4767726957798004</c:v>
                </c:pt>
                <c:pt idx="90">
                  <c:v>0.4450841248035431</c:v>
                </c:pt>
                <c:pt idx="91">
                  <c:v>0.4809007942676544</c:v>
                </c:pt>
                <c:pt idx="92">
                  <c:v>0.7850342392921448</c:v>
                </c:pt>
                <c:pt idx="93">
                  <c:v>0.5081256628036499</c:v>
                </c:pt>
                <c:pt idx="94">
                  <c:v>0.5720846056938171</c:v>
                </c:pt>
                <c:pt idx="95">
                  <c:v>0.6291945576667786</c:v>
                </c:pt>
                <c:pt idx="96">
                  <c:v>0.520616888999939</c:v>
                </c:pt>
                <c:pt idx="97">
                  <c:v>0.4715297520160675</c:v>
                </c:pt>
                <c:pt idx="98">
                  <c:v>0.5869253873825073</c:v>
                </c:pt>
                <c:pt idx="99">
                  <c:v>0.6197689771652222</c:v>
                </c:pt>
                <c:pt idx="100">
                  <c:v>0.4962628483772278</c:v>
                </c:pt>
                <c:pt idx="101">
                  <c:v>0.41832593083381653</c:v>
                </c:pt>
                <c:pt idx="102">
                  <c:v>0.42151695489883423</c:v>
                </c:pt>
                <c:pt idx="103">
                  <c:v>0.5117307305335999</c:v>
                </c:pt>
                <c:pt idx="104">
                  <c:v>0.6144604086875916</c:v>
                </c:pt>
                <c:pt idx="105">
                  <c:v>0.4910159409046173</c:v>
                </c:pt>
                <c:pt idx="106">
                  <c:v>0.5178858041763306</c:v>
                </c:pt>
                <c:pt idx="107">
                  <c:v>0.49383240938186646</c:v>
                </c:pt>
                <c:pt idx="108">
                  <c:v>0.5756239891052246</c:v>
                </c:pt>
                <c:pt idx="109">
                  <c:v>0.38393256068229675</c:v>
                </c:pt>
                <c:pt idx="110">
                  <c:v>0.46590739488601685</c:v>
                </c:pt>
                <c:pt idx="111">
                  <c:v>0.6281192302703857</c:v>
                </c:pt>
                <c:pt idx="112">
                  <c:v>0.5689648389816284</c:v>
                </c:pt>
                <c:pt idx="113">
                  <c:v>0.42764970660209656</c:v>
                </c:pt>
                <c:pt idx="114">
                  <c:v>0.5116689801216125</c:v>
                </c:pt>
                <c:pt idx="115">
                  <c:v>0.4103582501411438</c:v>
                </c:pt>
                <c:pt idx="116">
                  <c:v>0.4663859009742737</c:v>
                </c:pt>
                <c:pt idx="117">
                  <c:v>0.509663999080658</c:v>
                </c:pt>
                <c:pt idx="118">
                  <c:v>0.5823853015899658</c:v>
                </c:pt>
                <c:pt idx="119">
                  <c:v>0.5869860649108887</c:v>
                </c:pt>
                <c:pt idx="120">
                  <c:v>0.5985053181648254</c:v>
                </c:pt>
                <c:pt idx="121">
                  <c:v>0.5091955661773682</c:v>
                </c:pt>
                <c:pt idx="122">
                  <c:v>0.5158333778381348</c:v>
                </c:pt>
                <c:pt idx="123">
                  <c:v>0.5115501284599304</c:v>
                </c:pt>
                <c:pt idx="124">
                  <c:v>0.3136970102787018</c:v>
                </c:pt>
                <c:pt idx="125">
                  <c:v>0.472554475069046</c:v>
                </c:pt>
                <c:pt idx="126">
                  <c:v>0.531713604927063</c:v>
                </c:pt>
                <c:pt idx="127">
                  <c:v>0.38213256001472473</c:v>
                </c:pt>
                <c:pt idx="128">
                  <c:v>0.4093846082687378</c:v>
                </c:pt>
                <c:pt idx="129">
                  <c:v>0.34901130199432373</c:v>
                </c:pt>
                <c:pt idx="130">
                  <c:v>0.40694695711135864</c:v>
                </c:pt>
                <c:pt idx="131">
                  <c:v>0.35102954506874084</c:v>
                </c:pt>
                <c:pt idx="132">
                  <c:v>0.41812950372695923</c:v>
                </c:pt>
                <c:pt idx="133">
                  <c:v>0.48658615350723267</c:v>
                </c:pt>
                <c:pt idx="134">
                  <c:v>0.43211960792541504</c:v>
                </c:pt>
                <c:pt idx="135">
                  <c:v>0.37473809719085693</c:v>
                </c:pt>
                <c:pt idx="136">
                  <c:v>0.33452707529067993</c:v>
                </c:pt>
                <c:pt idx="137">
                  <c:v>0.3288687765598297</c:v>
                </c:pt>
                <c:pt idx="138">
                  <c:v>0.4246358275413513</c:v>
                </c:pt>
                <c:pt idx="139">
                  <c:v>0.3815311789512634</c:v>
                </c:pt>
                <c:pt idx="140">
                  <c:v>0.4051056206226349</c:v>
                </c:pt>
                <c:pt idx="141">
                  <c:v>0.31288713216781616</c:v>
                </c:pt>
                <c:pt idx="142">
                  <c:v>0.5543596744537354</c:v>
                </c:pt>
                <c:pt idx="143">
                  <c:v>0.45895567536354065</c:v>
                </c:pt>
                <c:pt idx="144">
                  <c:v>0.5271095037460327</c:v>
                </c:pt>
                <c:pt idx="145">
                  <c:v>0.5404824018478394</c:v>
                </c:pt>
                <c:pt idx="146">
                  <c:v>0.5058889389038086</c:v>
                </c:pt>
                <c:pt idx="147">
                  <c:v>0.3063453435897827</c:v>
                </c:pt>
                <c:pt idx="148">
                  <c:v>0.4148329198360443</c:v>
                </c:pt>
                <c:pt idx="149">
                  <c:v>0.45329463481903076</c:v>
                </c:pt>
                <c:pt idx="150">
                  <c:v>0.6577685475349426</c:v>
                </c:pt>
                <c:pt idx="151">
                  <c:v>0.533800482749939</c:v>
                </c:pt>
                <c:pt idx="152">
                  <c:v>0.4096551239490509</c:v>
                </c:pt>
                <c:pt idx="153">
                  <c:v>0.3777805268764496</c:v>
                </c:pt>
                <c:pt idx="154">
                  <c:v>0.41307809948921204</c:v>
                </c:pt>
                <c:pt idx="155">
                  <c:v>0.5235664248466492</c:v>
                </c:pt>
                <c:pt idx="156">
                  <c:v>0.3221065104007721</c:v>
                </c:pt>
                <c:pt idx="157">
                  <c:v>0.3986315131187439</c:v>
                </c:pt>
                <c:pt idx="158">
                  <c:v>0.30904680490493774</c:v>
                </c:pt>
                <c:pt idx="159">
                  <c:v>0.2613060474395752</c:v>
                </c:pt>
                <c:pt idx="160">
                  <c:v>0.3940429985523224</c:v>
                </c:pt>
                <c:pt idx="161">
                  <c:v>0.3984295427799225</c:v>
                </c:pt>
                <c:pt idx="162">
                  <c:v>0.344331830739975</c:v>
                </c:pt>
                <c:pt idx="163">
                  <c:v>0.304464727640152</c:v>
                </c:pt>
                <c:pt idx="164">
                  <c:v>0.4461105763912201</c:v>
                </c:pt>
                <c:pt idx="165">
                  <c:v>0.4146499037742615</c:v>
                </c:pt>
                <c:pt idx="166">
                  <c:v>0.316840797662735</c:v>
                </c:pt>
                <c:pt idx="167">
                  <c:v>0.398360937833786</c:v>
                </c:pt>
                <c:pt idx="168">
                  <c:v>0.3579205274581909</c:v>
                </c:pt>
                <c:pt idx="169">
                  <c:v>0.3704286515712738</c:v>
                </c:pt>
                <c:pt idx="170">
                  <c:v>0.3166147768497467</c:v>
                </c:pt>
                <c:pt idx="171">
                  <c:v>0.3747732937335968</c:v>
                </c:pt>
                <c:pt idx="172">
                  <c:v>0.34969809651374817</c:v>
                </c:pt>
                <c:pt idx="173">
                  <c:v>0.4294351637363434</c:v>
                </c:pt>
                <c:pt idx="174">
                  <c:v>0.38716256618499756</c:v>
                </c:pt>
                <c:pt idx="175">
                  <c:v>0.3348636031150818</c:v>
                </c:pt>
                <c:pt idx="176">
                  <c:v>0.3218022882938385</c:v>
                </c:pt>
                <c:pt idx="177">
                  <c:v>0.3057154715061188</c:v>
                </c:pt>
                <c:pt idx="178">
                  <c:v>0.41044870018959045</c:v>
                </c:pt>
                <c:pt idx="179">
                  <c:v>0.2848285436630249</c:v>
                </c:pt>
                <c:pt idx="180">
                  <c:v>0.3626764416694641</c:v>
                </c:pt>
                <c:pt idx="181">
                  <c:v>0.38770726323127747</c:v>
                </c:pt>
                <c:pt idx="182">
                  <c:v>0.39427539706230164</c:v>
                </c:pt>
                <c:pt idx="183">
                  <c:v>0.4490029811859131</c:v>
                </c:pt>
                <c:pt idx="184">
                  <c:v>0.3346365988254547</c:v>
                </c:pt>
                <c:pt idx="185">
                  <c:v>0.3602866530418396</c:v>
                </c:pt>
                <c:pt idx="186">
                  <c:v>0.40346115827560425</c:v>
                </c:pt>
                <c:pt idx="187">
                  <c:v>0.37242522835731506</c:v>
                </c:pt>
                <c:pt idx="188">
                  <c:v>0.3671019971370697</c:v>
                </c:pt>
                <c:pt idx="189">
                  <c:v>0.31144633889198303</c:v>
                </c:pt>
                <c:pt idx="190">
                  <c:v>0.37649238109588623</c:v>
                </c:pt>
                <c:pt idx="191">
                  <c:v>0.4047149419784546</c:v>
                </c:pt>
                <c:pt idx="192">
                  <c:v>0.4507423937320709</c:v>
                </c:pt>
                <c:pt idx="193">
                  <c:v>0.35981786251068115</c:v>
                </c:pt>
                <c:pt idx="194">
                  <c:v>0.39086049795150757</c:v>
                </c:pt>
                <c:pt idx="195">
                  <c:v>0.2534463405609131</c:v>
                </c:pt>
                <c:pt idx="196">
                  <c:v>0.43365147709846497</c:v>
                </c:pt>
                <c:pt idx="197">
                  <c:v>0.38471686840057373</c:v>
                </c:pt>
                <c:pt idx="198">
                  <c:v>0.47391095757484436</c:v>
                </c:pt>
                <c:pt idx="199">
                  <c:v>0.5325895547866821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A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E5E5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00000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[IMPORTANT] All numbers in this deck are same-node A/B measurements on 8×H200 (NVLink), nsys-verified.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slide: 3.2x step time, 3.2x throughput at same batch; batch scaling adds another 32% on 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Hybrid decoder = full attention + gated-delta-net (linear attention) layers — this matters later: GDN blocks whole-model torch.compile.
Action expert consumes VLM hidden states layer-wise (layerwise DiT).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Timeline from the NVTX-instrumented baseline re-capture (qwenpi_baseline_nvtx, viking-prod-303, train_step_33, 807 ms, bs 8/GPU). Both strips use the GPU-execution clock: kernels attributed to phases/modules by their CPU launch window (correlationId join).
CPU-side forward() returns at 225 ms - the GPU is still executing DiT forward kernels until 309 ms (eager launch-ahead). That is why phases here are defined on GPU execution, not CPU ranges.
Qwen3.5 bwd:fwd busy = 123:50 = 2.46x, matching theory (GEMM exactly 1.94x). The SPAN ratio is only 1.18x because forward is launch-starved: occupancy 34% vs 70% in backward (Python-side launches vs C++ autograd).
Module bands = GPU execution spans, attributed by launch-window correlation (kernels joined to their CPU launch time via correlationId). GPU busy inside the bands: Qwen3.5 fwd 50 ms, DiT fwd 120 ms, DiT bwd 224 ms, Qwen3.5 bwd 123 ms - DiT owns 43% of all GPU busy time.
Rows 2+3 land as one ladder level (pipeline &amp; caching, -117 ms); row 5 combines bucket sizing (PR11) and the redundant-flatten removal (PR12); row 6 covers the two config-level fixes.
[IMPORTANT] Key message: every fix in this deck was first SEEN here as a trace shape or a measured kernel cost - problems first, solutions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bar is a separate 60-step run at that cumulative level; bars show ACTUAL step time, not deltas. The next slides walk these levels.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Kernel classes measured on the instrumented baseline capture (qwenpi_baseline_nvtx).
Loss curves: 200-step same-seed A/B (qwenpi_opt1_fp32_200 vs qwenpi_opt1_bf16_200). Task-level accuracy is validated customer-side; loss trajectory is our correctness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Idle quantification from the instrumented baseline: 205 ms/step total idle - ~40 ms preprocessing gap at step start, plus sync stalls and launch gaps.
Schematic is illustrative; proportions follow the measured trace (preprocess ~40 ms of a 807 ms step at baseline, fully hidden after.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Baseline: qwenpi_baseline_nvtx train_step_33; optimized: milestone1 train_step_48. Launch-window attribution both sides.
[IMPORTANT] This page motivates graphs with the customer's own trace numbers; the next page is the design and the 4-vs-1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Graph capture preserves exact hidden-state semantics — verified fullgraph fwd+bwd and unchanged loss trajectory.
Group size 8 balances capture memory against launch savings; per-layer compile was ported but the fused graphs replaced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Ledger method: exposed comm = NCCL busy while no compute kernel runs; idle = nothing on any stream.
Remaining exposed comm is gradient-readiness-bound, not hook- or bandwidth-bound — verified by intervention experiments.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[IMPORTANT] Recommendation: bs 24 is the throughput config, gated on customer-side convergence validation (lr recalibration).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credibility anchor: what we did NOT ship is as evidence-based as what we did.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shipped is one MR per optimization with measured before/after — the repo history is the reproducibility story.
[IMPORTANT] Close: 3.2x is banked; the roadmap above is how we keep going.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" name="Image 0" descr="/app/logos/nvidia-logo-bl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502920"/>
            <a:ext cx="1828800" cy="6309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1031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VLA Training Optimization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3108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NVIDIA DevTech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76B90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Results at a Glance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starVLA QwenPI: Qwen3.5-VL 4B + flow-matching action head, ZeRO-2 full fine-tune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21208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21208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Text 4"/>
          <p:cNvSpPr/>
          <p:nvPr/>
        </p:nvSpPr>
        <p:spPr>
          <a:xfrm>
            <a:off x="521208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3.2×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30936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Faster training step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 → 249 ms/step (bs 8)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96896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96896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" name="Text 9"/>
          <p:cNvSpPr/>
          <p:nvPr/>
        </p:nvSpPr>
        <p:spPr>
          <a:xfrm>
            <a:off x="2596896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257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2706624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06624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up from 80 at hand-off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72584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72584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4"/>
          <p:cNvSpPr/>
          <p:nvPr/>
        </p:nvSpPr>
        <p:spPr>
          <a:xfrm>
            <a:off x="4672584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23.1%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4782312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FLOPs utilization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782312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up from 7.2% (bf16 peak)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748272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748272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1" name="Text 19"/>
          <p:cNvSpPr/>
          <p:nvPr/>
        </p:nvSpPr>
        <p:spPr>
          <a:xfrm>
            <a:off x="6748272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340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6858000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0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 bs 24 — 1.7× the 200 target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3703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Method: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every optimization was profiled with Nsight Systems and validated with a same-node A/B run plus loss-trajectory checks — no stacked guesses, measured deltas only.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416052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Measurement: 8×H200 (NVLink), 60 steps, steady-state p50 of steps 21–44, per-GPU batch 8 unless noted.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&amp; Workload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7.5B trainable parameters: Qwen3.5-VL 4B backbone + 3B flow-matching action expert</a:t>
            </a:r>
            <a:endParaRPr lang="en-US" sz="1500" dirty="0"/>
          </a:p>
        </p:txBody>
      </p:sp>
      <p:pic>
        <p:nvPicPr>
          <p:cNvPr id="4" name="Image 0" descr="/work/tikz-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34440"/>
            <a:ext cx="3522026" cy="3017520"/>
          </a:xfrm>
          <a:prstGeom prst="rect">
            <a:avLst/>
          </a:prstGeom>
        </p:spPr>
      </p:pic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280160"/>
          <a:ext cx="37947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56032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Training configuration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Parameters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7.52B, all trainable (bf16)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Parallelism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DeepSpeed ZeRO-2, DP=8, 1 node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ZeRO-2 tuning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bucket 1.5e9, reduce_scatter off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Optimizer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AdamW, fp32 master (sharded)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Batch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8 / GPU → 64 global (up to 24/GPU)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Sequence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text fixed at 192 (left-pad)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Data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LIBERO manipulation, 2 views/sample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Hardware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8×H200 SXM, full NVLink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Software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torch 2.7.1 / NCCL 2.26.2 / HF 5.3 / FA2.8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9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 Diagnosis: Where Did 800 ms Go?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One baseline step on the GPU-execution clock (807 ms, bs 8/GPU) — five problems, five fixes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508760" y="1261872"/>
            <a:ext cx="2346877" cy="237744"/>
          </a:xfrm>
          <a:prstGeom prst="rect">
            <a:avLst/>
          </a:prstGeom>
          <a:solidFill>
            <a:srgbClr val="5D1682"/>
          </a:solidFill>
          <a:ln/>
        </p:spPr>
      </p:sp>
      <p:sp>
        <p:nvSpPr>
          <p:cNvPr id="5" name="Text 3"/>
          <p:cNvSpPr/>
          <p:nvPr/>
        </p:nvSpPr>
        <p:spPr>
          <a:xfrm>
            <a:off x="1508760" y="1261872"/>
            <a:ext cx="234687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Forward 309 ms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855637" y="1261872"/>
            <a:ext cx="3102342" cy="237744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7" name="Text 5"/>
          <p:cNvSpPr/>
          <p:nvPr/>
        </p:nvSpPr>
        <p:spPr>
          <a:xfrm>
            <a:off x="3855637" y="1261872"/>
            <a:ext cx="31023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409 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957979" y="1261872"/>
            <a:ext cx="677261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9" name="Text 7"/>
          <p:cNvSpPr/>
          <p:nvPr/>
        </p:nvSpPr>
        <p:spPr>
          <a:xfrm>
            <a:off x="6957979" y="1261872"/>
            <a:ext cx="67726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Optimizer + AG 89 ms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261872"/>
            <a:ext cx="978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phase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508760" y="1536192"/>
            <a:ext cx="280167" cy="23774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12" name="Text 10"/>
          <p:cNvSpPr/>
          <p:nvPr/>
        </p:nvSpPr>
        <p:spPr>
          <a:xfrm>
            <a:off x="1508760" y="1536192"/>
            <a:ext cx="2801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 prep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788927" y="1536192"/>
            <a:ext cx="1121429" cy="23774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4" name="Text 12"/>
          <p:cNvSpPr/>
          <p:nvPr/>
        </p:nvSpPr>
        <p:spPr>
          <a:xfrm>
            <a:off x="1788927" y="1536192"/>
            <a:ext cx="11214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Qwen3.5 · 148 ms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910356" y="1536192"/>
            <a:ext cx="945280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4"/>
          <p:cNvSpPr/>
          <p:nvPr/>
        </p:nvSpPr>
        <p:spPr>
          <a:xfrm>
            <a:off x="2910356" y="1536192"/>
            <a:ext cx="94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DiT · 125 ms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855637" y="1536192"/>
            <a:ext cx="1776672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Text 16"/>
          <p:cNvSpPr/>
          <p:nvPr/>
        </p:nvSpPr>
        <p:spPr>
          <a:xfrm>
            <a:off x="3855637" y="1536192"/>
            <a:ext cx="1776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DiT · 234 ms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632309" y="1536192"/>
            <a:ext cx="1325670" cy="23774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" name="Text 18"/>
          <p:cNvSpPr/>
          <p:nvPr/>
        </p:nvSpPr>
        <p:spPr>
          <a:xfrm>
            <a:off x="5632309" y="1536192"/>
            <a:ext cx="13256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Qwen3.5 · 175 ms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957979" y="1536192"/>
            <a:ext cx="677261" cy="23774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Text 20"/>
          <p:cNvSpPr/>
          <p:nvPr/>
        </p:nvSpPr>
        <p:spPr>
          <a:xfrm>
            <a:off x="6957979" y="1536192"/>
            <a:ext cx="67726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 · AG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57200" y="1536192"/>
            <a:ext cx="978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module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1810512"/>
            <a:ext cx="978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 SM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508760" y="1810512"/>
            <a:ext cx="6126480" cy="310896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9181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7" name="Shape 25"/>
          <p:cNvSpPr/>
          <p:nvPr/>
        </p:nvSpPr>
        <p:spPr>
          <a:xfrm>
            <a:off x="183190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8" name="Shape 26"/>
          <p:cNvSpPr/>
          <p:nvPr/>
        </p:nvSpPr>
        <p:spPr>
          <a:xfrm>
            <a:off x="1834179" y="1837944"/>
            <a:ext cx="577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Shape 27"/>
          <p:cNvSpPr/>
          <p:nvPr/>
        </p:nvSpPr>
        <p:spPr>
          <a:xfrm>
            <a:off x="1842683" y="1837944"/>
            <a:ext cx="2665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Shape 28"/>
          <p:cNvSpPr/>
          <p:nvPr/>
        </p:nvSpPr>
        <p:spPr>
          <a:xfrm>
            <a:off x="186994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1" name="Shape 29"/>
          <p:cNvSpPr/>
          <p:nvPr/>
        </p:nvSpPr>
        <p:spPr>
          <a:xfrm>
            <a:off x="187191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Shape 30"/>
          <p:cNvSpPr/>
          <p:nvPr/>
        </p:nvSpPr>
        <p:spPr>
          <a:xfrm>
            <a:off x="1877078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Shape 31"/>
          <p:cNvSpPr/>
          <p:nvPr/>
        </p:nvSpPr>
        <p:spPr>
          <a:xfrm>
            <a:off x="1883076" y="1837944"/>
            <a:ext cx="683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4" name="Shape 32"/>
          <p:cNvSpPr/>
          <p:nvPr/>
        </p:nvSpPr>
        <p:spPr>
          <a:xfrm>
            <a:off x="1891807" y="1837944"/>
            <a:ext cx="129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5" name="Shape 33"/>
          <p:cNvSpPr/>
          <p:nvPr/>
        </p:nvSpPr>
        <p:spPr>
          <a:xfrm>
            <a:off x="1906613" y="1837944"/>
            <a:ext cx="121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6" name="Shape 34"/>
          <p:cNvSpPr/>
          <p:nvPr/>
        </p:nvSpPr>
        <p:spPr>
          <a:xfrm>
            <a:off x="1920583" y="1837944"/>
            <a:ext cx="122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7" name="Shape 35"/>
          <p:cNvSpPr/>
          <p:nvPr/>
        </p:nvSpPr>
        <p:spPr>
          <a:xfrm>
            <a:off x="1934630" y="1837944"/>
            <a:ext cx="124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8" name="Shape 36"/>
          <p:cNvSpPr/>
          <p:nvPr/>
        </p:nvSpPr>
        <p:spPr>
          <a:xfrm>
            <a:off x="1948752" y="1837944"/>
            <a:ext cx="508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9" name="Shape 37"/>
          <p:cNvSpPr/>
          <p:nvPr/>
        </p:nvSpPr>
        <p:spPr>
          <a:xfrm>
            <a:off x="1954522" y="1837944"/>
            <a:ext cx="690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0" name="Shape 38"/>
          <p:cNvSpPr/>
          <p:nvPr/>
        </p:nvSpPr>
        <p:spPr>
          <a:xfrm>
            <a:off x="1963406" y="1837944"/>
            <a:ext cx="119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1" name="Shape 39"/>
          <p:cNvSpPr/>
          <p:nvPr/>
        </p:nvSpPr>
        <p:spPr>
          <a:xfrm>
            <a:off x="1977224" y="1837944"/>
            <a:ext cx="120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2" name="Shape 40"/>
          <p:cNvSpPr/>
          <p:nvPr/>
        </p:nvSpPr>
        <p:spPr>
          <a:xfrm>
            <a:off x="1991043" y="1837944"/>
            <a:ext cx="121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2005013" y="1837944"/>
            <a:ext cx="120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4" name="Shape 42"/>
          <p:cNvSpPr/>
          <p:nvPr/>
        </p:nvSpPr>
        <p:spPr>
          <a:xfrm>
            <a:off x="2019515" y="1837944"/>
            <a:ext cx="115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5" name="Shape 43"/>
          <p:cNvSpPr/>
          <p:nvPr/>
        </p:nvSpPr>
        <p:spPr>
          <a:xfrm>
            <a:off x="2032650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6" name="Shape 44"/>
          <p:cNvSpPr/>
          <p:nvPr/>
        </p:nvSpPr>
        <p:spPr>
          <a:xfrm>
            <a:off x="2045937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7" name="Shape 45"/>
          <p:cNvSpPr/>
          <p:nvPr/>
        </p:nvSpPr>
        <p:spPr>
          <a:xfrm>
            <a:off x="2059224" y="1837944"/>
            <a:ext cx="123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8" name="Shape 46"/>
          <p:cNvSpPr/>
          <p:nvPr/>
        </p:nvSpPr>
        <p:spPr>
          <a:xfrm>
            <a:off x="2073271" y="1837944"/>
            <a:ext cx="118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9" name="Shape 47"/>
          <p:cNvSpPr/>
          <p:nvPr/>
        </p:nvSpPr>
        <p:spPr>
          <a:xfrm>
            <a:off x="2086786" y="1837944"/>
            <a:ext cx="122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0" name="Shape 48"/>
          <p:cNvSpPr/>
          <p:nvPr/>
        </p:nvSpPr>
        <p:spPr>
          <a:xfrm>
            <a:off x="2100680" y="1837944"/>
            <a:ext cx="118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1" name="Shape 49"/>
          <p:cNvSpPr/>
          <p:nvPr/>
        </p:nvSpPr>
        <p:spPr>
          <a:xfrm>
            <a:off x="2114271" y="1837944"/>
            <a:ext cx="119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2" name="Shape 50"/>
          <p:cNvSpPr/>
          <p:nvPr/>
        </p:nvSpPr>
        <p:spPr>
          <a:xfrm>
            <a:off x="2127862" y="1837944"/>
            <a:ext cx="119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3" name="Shape 51"/>
          <p:cNvSpPr/>
          <p:nvPr/>
        </p:nvSpPr>
        <p:spPr>
          <a:xfrm>
            <a:off x="2141453" y="1837944"/>
            <a:ext cx="119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4" name="Shape 52"/>
          <p:cNvSpPr/>
          <p:nvPr/>
        </p:nvSpPr>
        <p:spPr>
          <a:xfrm>
            <a:off x="2154967" y="1837944"/>
            <a:ext cx="116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5" name="Shape 53"/>
          <p:cNvSpPr/>
          <p:nvPr/>
        </p:nvSpPr>
        <p:spPr>
          <a:xfrm>
            <a:off x="2168406" y="1837944"/>
            <a:ext cx="117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6" name="Shape 54"/>
          <p:cNvSpPr/>
          <p:nvPr/>
        </p:nvSpPr>
        <p:spPr>
          <a:xfrm>
            <a:off x="2185414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7" name="Shape 55"/>
          <p:cNvSpPr/>
          <p:nvPr/>
        </p:nvSpPr>
        <p:spPr>
          <a:xfrm>
            <a:off x="2191260" y="1837944"/>
            <a:ext cx="660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8" name="Shape 56"/>
          <p:cNvSpPr/>
          <p:nvPr/>
        </p:nvSpPr>
        <p:spPr>
          <a:xfrm>
            <a:off x="2199612" y="1837944"/>
            <a:ext cx="493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9" name="Shape 57"/>
          <p:cNvSpPr/>
          <p:nvPr/>
        </p:nvSpPr>
        <p:spPr>
          <a:xfrm>
            <a:off x="2205230" y="1837944"/>
            <a:ext cx="53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0" name="Shape 58"/>
          <p:cNvSpPr/>
          <p:nvPr/>
        </p:nvSpPr>
        <p:spPr>
          <a:xfrm>
            <a:off x="2211608" y="1837944"/>
            <a:ext cx="59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1" name="Shape 59"/>
          <p:cNvSpPr/>
          <p:nvPr/>
        </p:nvSpPr>
        <p:spPr>
          <a:xfrm>
            <a:off x="2219049" y="1837944"/>
            <a:ext cx="170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2" name="Shape 60"/>
          <p:cNvSpPr/>
          <p:nvPr/>
        </p:nvSpPr>
        <p:spPr>
          <a:xfrm>
            <a:off x="2236740" y="1837944"/>
            <a:ext cx="258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3" name="Shape 61"/>
          <p:cNvSpPr/>
          <p:nvPr/>
        </p:nvSpPr>
        <p:spPr>
          <a:xfrm>
            <a:off x="2263162" y="1837944"/>
            <a:ext cx="1943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4" name="Shape 62"/>
          <p:cNvSpPr/>
          <p:nvPr/>
        </p:nvSpPr>
        <p:spPr>
          <a:xfrm>
            <a:off x="228510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5" name="Shape 63"/>
          <p:cNvSpPr/>
          <p:nvPr/>
        </p:nvSpPr>
        <p:spPr>
          <a:xfrm>
            <a:off x="229072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6" name="Shape 64"/>
          <p:cNvSpPr/>
          <p:nvPr/>
        </p:nvSpPr>
        <p:spPr>
          <a:xfrm>
            <a:off x="229360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7" name="Shape 65"/>
          <p:cNvSpPr/>
          <p:nvPr/>
        </p:nvSpPr>
        <p:spPr>
          <a:xfrm>
            <a:off x="2296342" y="1837944"/>
            <a:ext cx="546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8" name="Shape 66"/>
          <p:cNvSpPr/>
          <p:nvPr/>
        </p:nvSpPr>
        <p:spPr>
          <a:xfrm>
            <a:off x="230583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9" name="Shape 67"/>
          <p:cNvSpPr/>
          <p:nvPr/>
        </p:nvSpPr>
        <p:spPr>
          <a:xfrm>
            <a:off x="230856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0" name="Shape 68"/>
          <p:cNvSpPr/>
          <p:nvPr/>
        </p:nvSpPr>
        <p:spPr>
          <a:xfrm>
            <a:off x="231228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1" name="Shape 69"/>
          <p:cNvSpPr/>
          <p:nvPr/>
        </p:nvSpPr>
        <p:spPr>
          <a:xfrm>
            <a:off x="2314944" y="1837944"/>
            <a:ext cx="865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2" name="Shape 70"/>
          <p:cNvSpPr/>
          <p:nvPr/>
        </p:nvSpPr>
        <p:spPr>
          <a:xfrm>
            <a:off x="2326940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3" name="Shape 71"/>
          <p:cNvSpPr/>
          <p:nvPr/>
        </p:nvSpPr>
        <p:spPr>
          <a:xfrm>
            <a:off x="232929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4" name="Shape 72"/>
          <p:cNvSpPr/>
          <p:nvPr/>
        </p:nvSpPr>
        <p:spPr>
          <a:xfrm>
            <a:off x="233263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5" name="Shape 73"/>
          <p:cNvSpPr/>
          <p:nvPr/>
        </p:nvSpPr>
        <p:spPr>
          <a:xfrm>
            <a:off x="2335368" y="1837944"/>
            <a:ext cx="584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6" name="Shape 74"/>
          <p:cNvSpPr/>
          <p:nvPr/>
        </p:nvSpPr>
        <p:spPr>
          <a:xfrm>
            <a:off x="234182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7" name="Shape 75"/>
          <p:cNvSpPr/>
          <p:nvPr/>
        </p:nvSpPr>
        <p:spPr>
          <a:xfrm>
            <a:off x="234652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8" name="Shape 76"/>
          <p:cNvSpPr/>
          <p:nvPr/>
        </p:nvSpPr>
        <p:spPr>
          <a:xfrm>
            <a:off x="234956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9" name="Shape 77"/>
          <p:cNvSpPr/>
          <p:nvPr/>
        </p:nvSpPr>
        <p:spPr>
          <a:xfrm>
            <a:off x="2352831" y="1837944"/>
            <a:ext cx="2604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0" name="Shape 78"/>
          <p:cNvSpPr/>
          <p:nvPr/>
        </p:nvSpPr>
        <p:spPr>
          <a:xfrm>
            <a:off x="238145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1" name="Shape 79"/>
          <p:cNvSpPr/>
          <p:nvPr/>
        </p:nvSpPr>
        <p:spPr>
          <a:xfrm>
            <a:off x="238768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2" name="Shape 80"/>
          <p:cNvSpPr/>
          <p:nvPr/>
        </p:nvSpPr>
        <p:spPr>
          <a:xfrm>
            <a:off x="2390338" y="1837944"/>
            <a:ext cx="82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3" name="Shape 81"/>
          <p:cNvSpPr/>
          <p:nvPr/>
        </p:nvSpPr>
        <p:spPr>
          <a:xfrm>
            <a:off x="240104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4" name="Shape 82"/>
          <p:cNvSpPr/>
          <p:nvPr/>
        </p:nvSpPr>
        <p:spPr>
          <a:xfrm>
            <a:off x="240719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5" name="Shape 83"/>
          <p:cNvSpPr/>
          <p:nvPr/>
        </p:nvSpPr>
        <p:spPr>
          <a:xfrm>
            <a:off x="2409851" y="1837944"/>
            <a:ext cx="850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6" name="Shape 84"/>
          <p:cNvSpPr/>
          <p:nvPr/>
        </p:nvSpPr>
        <p:spPr>
          <a:xfrm>
            <a:off x="242070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7" name="Shape 85"/>
          <p:cNvSpPr/>
          <p:nvPr/>
        </p:nvSpPr>
        <p:spPr>
          <a:xfrm>
            <a:off x="2426935" y="1837944"/>
            <a:ext cx="2535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8" name="Shape 86"/>
          <p:cNvSpPr/>
          <p:nvPr/>
        </p:nvSpPr>
        <p:spPr>
          <a:xfrm>
            <a:off x="2455407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9" name="Shape 87"/>
          <p:cNvSpPr/>
          <p:nvPr/>
        </p:nvSpPr>
        <p:spPr>
          <a:xfrm>
            <a:off x="245776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0" name="Shape 88"/>
          <p:cNvSpPr/>
          <p:nvPr/>
        </p:nvSpPr>
        <p:spPr>
          <a:xfrm>
            <a:off x="246178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1" name="Shape 89"/>
          <p:cNvSpPr/>
          <p:nvPr/>
        </p:nvSpPr>
        <p:spPr>
          <a:xfrm>
            <a:off x="2464898" y="1837944"/>
            <a:ext cx="842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2" name="Shape 90"/>
          <p:cNvSpPr/>
          <p:nvPr/>
        </p:nvSpPr>
        <p:spPr>
          <a:xfrm>
            <a:off x="247567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3" name="Shape 91"/>
          <p:cNvSpPr/>
          <p:nvPr/>
        </p:nvSpPr>
        <p:spPr>
          <a:xfrm>
            <a:off x="2481829" y="1837944"/>
            <a:ext cx="1078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4" name="Shape 92"/>
          <p:cNvSpPr/>
          <p:nvPr/>
        </p:nvSpPr>
        <p:spPr>
          <a:xfrm>
            <a:off x="249511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5" name="Shape 93"/>
          <p:cNvSpPr/>
          <p:nvPr/>
        </p:nvSpPr>
        <p:spPr>
          <a:xfrm>
            <a:off x="249800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6" name="Shape 94"/>
          <p:cNvSpPr/>
          <p:nvPr/>
        </p:nvSpPr>
        <p:spPr>
          <a:xfrm>
            <a:off x="2501646" y="1837944"/>
            <a:ext cx="264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7" name="Shape 95"/>
          <p:cNvSpPr/>
          <p:nvPr/>
        </p:nvSpPr>
        <p:spPr>
          <a:xfrm>
            <a:off x="253110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8" name="Shape 96"/>
          <p:cNvSpPr/>
          <p:nvPr/>
        </p:nvSpPr>
        <p:spPr>
          <a:xfrm>
            <a:off x="25371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9" name="Shape 97"/>
          <p:cNvSpPr/>
          <p:nvPr/>
        </p:nvSpPr>
        <p:spPr>
          <a:xfrm>
            <a:off x="2539761" y="1837944"/>
            <a:ext cx="83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2550467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255335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2556617" y="1837944"/>
            <a:ext cx="1123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57073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4" name="Shape 102"/>
          <p:cNvSpPr/>
          <p:nvPr/>
        </p:nvSpPr>
        <p:spPr>
          <a:xfrm>
            <a:off x="2577117" y="1837944"/>
            <a:ext cx="2520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5" name="Shape 103"/>
          <p:cNvSpPr/>
          <p:nvPr/>
        </p:nvSpPr>
        <p:spPr>
          <a:xfrm>
            <a:off x="260475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260771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7" name="Shape 105"/>
          <p:cNvSpPr/>
          <p:nvPr/>
        </p:nvSpPr>
        <p:spPr>
          <a:xfrm>
            <a:off x="2610904" y="1837944"/>
            <a:ext cx="1100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8" name="Shape 106"/>
          <p:cNvSpPr/>
          <p:nvPr/>
        </p:nvSpPr>
        <p:spPr>
          <a:xfrm>
            <a:off x="262434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26273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0" name="Shape 108"/>
          <p:cNvSpPr/>
          <p:nvPr/>
        </p:nvSpPr>
        <p:spPr>
          <a:xfrm>
            <a:off x="2630569" y="1837944"/>
            <a:ext cx="1078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264362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2649778" y="1837944"/>
            <a:ext cx="175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3" name="Shape 111"/>
          <p:cNvSpPr/>
          <p:nvPr/>
        </p:nvSpPr>
        <p:spPr>
          <a:xfrm>
            <a:off x="2668000" y="1837944"/>
            <a:ext cx="79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267893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2684780" y="1837944"/>
            <a:ext cx="1009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269715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270315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2706191" y="1837944"/>
            <a:ext cx="88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271742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0" name="Shape 118"/>
          <p:cNvSpPr/>
          <p:nvPr/>
        </p:nvSpPr>
        <p:spPr>
          <a:xfrm>
            <a:off x="272031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2723578" y="1837944"/>
            <a:ext cx="242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274855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2754632" y="1837944"/>
            <a:ext cx="926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2764730" y="1837944"/>
            <a:ext cx="47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277141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2773841" y="1837944"/>
            <a:ext cx="82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278568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2791380" y="1837944"/>
            <a:ext cx="2513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281894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282509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2827673" y="1837944"/>
            <a:ext cx="80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283807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2844073" y="1837944"/>
            <a:ext cx="1047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28569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5" name="Shape 133"/>
          <p:cNvSpPr/>
          <p:nvPr/>
        </p:nvSpPr>
        <p:spPr>
          <a:xfrm>
            <a:off x="286290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6" name="Shape 134"/>
          <p:cNvSpPr/>
          <p:nvPr/>
        </p:nvSpPr>
        <p:spPr>
          <a:xfrm>
            <a:off x="2865408" y="1837944"/>
            <a:ext cx="1738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7" name="Shape 135"/>
          <p:cNvSpPr/>
          <p:nvPr/>
        </p:nvSpPr>
        <p:spPr>
          <a:xfrm>
            <a:off x="2884010" y="1837944"/>
            <a:ext cx="197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2905269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291217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2914684" y="1837944"/>
            <a:ext cx="577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2923112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2929414" y="1837944"/>
            <a:ext cx="275832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690164" y="1837944"/>
            <a:ext cx="7622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45519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463927" y="1837944"/>
            <a:ext cx="1731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482226" y="1837944"/>
            <a:ext cx="159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499157" y="1837944"/>
            <a:ext cx="164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516620" y="1837944"/>
            <a:ext cx="157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533400" y="1837944"/>
            <a:ext cx="156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550028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566883" y="1837944"/>
            <a:ext cx="160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583967" y="1837944"/>
            <a:ext cx="157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600670" y="1837944"/>
            <a:ext cx="159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617602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634458" y="1837944"/>
            <a:ext cx="1556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651009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667865" y="1837944"/>
            <a:ext cx="157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684645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701500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718432" y="1837944"/>
            <a:ext cx="160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735515" y="1837944"/>
            <a:ext cx="161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752751" y="1837944"/>
            <a:ext cx="157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769606" y="1837944"/>
            <a:ext cx="165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787069" y="1837944"/>
            <a:ext cx="1670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804836" y="1837944"/>
            <a:ext cx="161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821995" y="1837944"/>
            <a:ext cx="170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840217" y="1837944"/>
            <a:ext cx="135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854643" y="1837944"/>
            <a:ext cx="81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863527" y="1837944"/>
            <a:ext cx="660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871043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941275" y="1837944"/>
            <a:ext cx="164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2" name="Shape 170"/>
          <p:cNvSpPr/>
          <p:nvPr/>
        </p:nvSpPr>
        <p:spPr>
          <a:xfrm>
            <a:off x="7020238" y="1837944"/>
            <a:ext cx="7121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3" name="Shape 171"/>
          <p:cNvSpPr/>
          <p:nvPr/>
        </p:nvSpPr>
        <p:spPr>
          <a:xfrm>
            <a:off x="7093583" y="1837944"/>
            <a:ext cx="2505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4" name="Shape 172"/>
          <p:cNvSpPr/>
          <p:nvPr/>
        </p:nvSpPr>
        <p:spPr>
          <a:xfrm>
            <a:off x="7122359" y="1837944"/>
            <a:ext cx="13719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5" name="Text 173"/>
          <p:cNvSpPr/>
          <p:nvPr/>
        </p:nvSpPr>
        <p:spPr>
          <a:xfrm>
            <a:off x="7671816" y="181051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543 ms · 67%</a:t>
            </a:r>
            <a:endParaRPr lang="en-US" sz="900" dirty="0"/>
          </a:p>
        </p:txBody>
      </p:sp>
      <p:sp>
        <p:nvSpPr>
          <p:cNvPr id="176" name="Text 174"/>
          <p:cNvSpPr/>
          <p:nvPr/>
        </p:nvSpPr>
        <p:spPr>
          <a:xfrm>
            <a:off x="457200" y="2212848"/>
            <a:ext cx="978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1000" dirty="0"/>
          </a:p>
        </p:txBody>
      </p:sp>
      <p:sp>
        <p:nvSpPr>
          <p:cNvPr id="177" name="Shape 175"/>
          <p:cNvSpPr/>
          <p:nvPr/>
        </p:nvSpPr>
        <p:spPr>
          <a:xfrm>
            <a:off x="1508760" y="2212848"/>
            <a:ext cx="6126480" cy="310896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4149167" y="2240280"/>
            <a:ext cx="4775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79" name="Shape 177"/>
          <p:cNvSpPr/>
          <p:nvPr/>
        </p:nvSpPr>
        <p:spPr>
          <a:xfrm>
            <a:off x="4455377" y="2240280"/>
            <a:ext cx="44493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0" name="Shape 178"/>
          <p:cNvSpPr/>
          <p:nvPr/>
        </p:nvSpPr>
        <p:spPr>
          <a:xfrm>
            <a:off x="4768269" y="2240280"/>
            <a:ext cx="42822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1" name="Shape 179"/>
          <p:cNvSpPr/>
          <p:nvPr/>
        </p:nvSpPr>
        <p:spPr>
          <a:xfrm>
            <a:off x="5047449" y="2240280"/>
            <a:ext cx="39861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2" name="Shape 180"/>
          <p:cNvSpPr/>
          <p:nvPr/>
        </p:nvSpPr>
        <p:spPr>
          <a:xfrm>
            <a:off x="5351534" y="2240280"/>
            <a:ext cx="37204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648253" y="2240280"/>
            <a:ext cx="3879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4" name="Shape 182"/>
          <p:cNvSpPr/>
          <p:nvPr/>
        </p:nvSpPr>
        <p:spPr>
          <a:xfrm>
            <a:off x="5765255" y="2240280"/>
            <a:ext cx="43050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5" name="Shape 183"/>
          <p:cNvSpPr/>
          <p:nvPr/>
        </p:nvSpPr>
        <p:spPr>
          <a:xfrm>
            <a:off x="5872994" y="2240280"/>
            <a:ext cx="41759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6" name="Shape 184"/>
          <p:cNvSpPr/>
          <p:nvPr/>
        </p:nvSpPr>
        <p:spPr>
          <a:xfrm>
            <a:off x="5986959" y="2240280"/>
            <a:ext cx="44037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093028" y="2240280"/>
            <a:ext cx="4327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202134" y="2240280"/>
            <a:ext cx="43506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9" name="Shape 187"/>
          <p:cNvSpPr/>
          <p:nvPr/>
        </p:nvSpPr>
        <p:spPr>
          <a:xfrm>
            <a:off x="6306836" y="2240280"/>
            <a:ext cx="43202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0" name="Shape 188"/>
          <p:cNvSpPr/>
          <p:nvPr/>
        </p:nvSpPr>
        <p:spPr>
          <a:xfrm>
            <a:off x="6411463" y="2240280"/>
            <a:ext cx="40696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1" name="Shape 189"/>
          <p:cNvSpPr/>
          <p:nvPr/>
        </p:nvSpPr>
        <p:spPr>
          <a:xfrm>
            <a:off x="6882660" y="2240280"/>
            <a:ext cx="21715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2" name="Shape 190"/>
          <p:cNvSpPr/>
          <p:nvPr/>
        </p:nvSpPr>
        <p:spPr>
          <a:xfrm>
            <a:off x="6966255" y="2240280"/>
            <a:ext cx="35913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259557" y="2240280"/>
            <a:ext cx="332329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4" name="Text 192"/>
          <p:cNvSpPr/>
          <p:nvPr/>
        </p:nvSpPr>
        <p:spPr>
          <a:xfrm>
            <a:off x="7671816" y="221284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124 ms · 15%</a:t>
            </a:r>
            <a:endParaRPr lang="en-US" sz="900" dirty="0"/>
          </a:p>
        </p:txBody>
      </p:sp>
      <p:sp>
        <p:nvSpPr>
          <p:cNvPr id="195" name="Shape 193"/>
          <p:cNvSpPr/>
          <p:nvPr/>
        </p:nvSpPr>
        <p:spPr>
          <a:xfrm>
            <a:off x="3855637" y="1810512"/>
            <a:ext cx="0" cy="713232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196" name="Shape 194"/>
          <p:cNvSpPr/>
          <p:nvPr/>
        </p:nvSpPr>
        <p:spPr>
          <a:xfrm>
            <a:off x="6957979" y="1810512"/>
            <a:ext cx="0" cy="713232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197" name="Shape 195"/>
          <p:cNvSpPr/>
          <p:nvPr/>
        </p:nvSpPr>
        <p:spPr>
          <a:xfrm>
            <a:off x="1508760" y="2633472"/>
            <a:ext cx="612648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1508760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1234440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800" dirty="0"/>
          </a:p>
        </p:txBody>
      </p:sp>
      <p:sp>
        <p:nvSpPr>
          <p:cNvPr id="200" name="Shape 198"/>
          <p:cNvSpPr/>
          <p:nvPr/>
        </p:nvSpPr>
        <p:spPr>
          <a:xfrm>
            <a:off x="3027283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2752963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800" dirty="0"/>
          </a:p>
        </p:txBody>
      </p:sp>
      <p:sp>
        <p:nvSpPr>
          <p:cNvPr id="202" name="Shape 200"/>
          <p:cNvSpPr/>
          <p:nvPr/>
        </p:nvSpPr>
        <p:spPr>
          <a:xfrm>
            <a:off x="4545805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4271485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800" dirty="0"/>
          </a:p>
        </p:txBody>
      </p:sp>
      <p:sp>
        <p:nvSpPr>
          <p:cNvPr id="204" name="Shape 202"/>
          <p:cNvSpPr/>
          <p:nvPr/>
        </p:nvSpPr>
        <p:spPr>
          <a:xfrm>
            <a:off x="6064328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5790008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600</a:t>
            </a:r>
            <a:endParaRPr lang="en-US" sz="800" dirty="0"/>
          </a:p>
        </p:txBody>
      </p:sp>
      <p:sp>
        <p:nvSpPr>
          <p:cNvPr id="206" name="Shape 204"/>
          <p:cNvSpPr/>
          <p:nvPr/>
        </p:nvSpPr>
        <p:spPr>
          <a:xfrm>
            <a:off x="7582851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7" name="Text 205"/>
          <p:cNvSpPr/>
          <p:nvPr/>
        </p:nvSpPr>
        <p:spPr>
          <a:xfrm>
            <a:off x="7308531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800" dirty="0"/>
          </a:p>
        </p:txBody>
      </p:sp>
      <p:sp>
        <p:nvSpPr>
          <p:cNvPr id="208" name="Text 206"/>
          <p:cNvSpPr/>
          <p:nvPr/>
        </p:nvSpPr>
        <p:spPr>
          <a:xfrm>
            <a:off x="5806440" y="28346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ms within one training step</a:t>
            </a:r>
            <a:endParaRPr lang="en-US" sz="800" dirty="0"/>
          </a:p>
        </p:txBody>
      </p:sp>
      <p:sp>
        <p:nvSpPr>
          <p:cNvPr id="209" name="Shape 207"/>
          <p:cNvSpPr/>
          <p:nvPr/>
        </p:nvSpPr>
        <p:spPr>
          <a:xfrm>
            <a:off x="1553987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0" name="Text 208"/>
          <p:cNvSpPr/>
          <p:nvPr/>
        </p:nvSpPr>
        <p:spPr>
          <a:xfrm>
            <a:off x="1553987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850" dirty="0"/>
          </a:p>
        </p:txBody>
      </p:sp>
      <p:sp>
        <p:nvSpPr>
          <p:cNvPr id="211" name="Shape 209"/>
          <p:cNvSpPr/>
          <p:nvPr/>
        </p:nvSpPr>
        <p:spPr>
          <a:xfrm>
            <a:off x="2252508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2" name="Text 210"/>
          <p:cNvSpPr/>
          <p:nvPr/>
        </p:nvSpPr>
        <p:spPr>
          <a:xfrm>
            <a:off x="2252508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850" dirty="0"/>
          </a:p>
        </p:txBody>
      </p:sp>
      <p:sp>
        <p:nvSpPr>
          <p:cNvPr id="213" name="Shape 211"/>
          <p:cNvSpPr/>
          <p:nvPr/>
        </p:nvSpPr>
        <p:spPr>
          <a:xfrm>
            <a:off x="4606218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4" name="Text 212"/>
          <p:cNvSpPr/>
          <p:nvPr/>
        </p:nvSpPr>
        <p:spPr>
          <a:xfrm>
            <a:off x="4606218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</a:t>
            </a:r>
            <a:endParaRPr lang="en-US" sz="850" dirty="0"/>
          </a:p>
        </p:txBody>
      </p:sp>
      <p:sp>
        <p:nvSpPr>
          <p:cNvPr id="215" name="Shape 213"/>
          <p:cNvSpPr/>
          <p:nvPr/>
        </p:nvSpPr>
        <p:spPr>
          <a:xfrm>
            <a:off x="7324373" y="2276856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6" name="Text 214"/>
          <p:cNvSpPr/>
          <p:nvPr/>
        </p:nvSpPr>
        <p:spPr>
          <a:xfrm>
            <a:off x="7324373" y="22768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</a:t>
            </a:r>
            <a:endParaRPr lang="en-US" sz="850" dirty="0"/>
          </a:p>
        </p:txBody>
      </p:sp>
      <p:sp>
        <p:nvSpPr>
          <p:cNvPr id="217" name="Text 215"/>
          <p:cNvSpPr/>
          <p:nvPr/>
        </p:nvSpPr>
        <p:spPr>
          <a:xfrm>
            <a:off x="1508760" y="2898648"/>
            <a:ext cx="6126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in bands: prep 0, Qwen3.5 50, DiT 120 | DiT 224, Qwen3.5 123, optim 26 ms</a:t>
            </a:r>
            <a:endParaRPr lang="en-US" sz="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099816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114800"/>
                <a:gridCol w="246888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 · fp32 action head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201 ms fp32 GEMMs vs 66 ms bf16 — 2.96B DiT outside autocast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bf16 DiT  (−218 ms)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 · CPU inside forward()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first ~40 ms of every step: compute idle, HF preprocessing on critical path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collate in DataLoader workers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3 · Per-step syncs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loss readback, DS timers, MRoPE position-ids, mm-merge check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sync-free logging + caches  (2+3: −117)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4 · Launch-bound eager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13,868 launches @ 8 µs median; occupancy fwd 34% vs bwd 70%; idle 205 ms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CUDA Graphs + compile  (−126 ms)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5 · Comm configuration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15 small AR buckets; 22 ms redundant flatten; exposed AllGather tail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bucket 1.5e9 + reduce_scatter off  (−22)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9" name="Text 216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20" name="Text 217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1000" dirty="0"/>
          </a:p>
        </p:txBody>
      </p:sp>
      <p:sp>
        <p:nvSpPr>
          <p:cNvPr id="221" name="Shape 218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22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Optimization Roadmap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Actual step time (ms) after each optimization lands — same node, steady-state p50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51560" y="365760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56616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51560" y="307467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98323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51560" y="249174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4003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51560" y="190881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1737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51560" y="132588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2344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219200" y="1325880"/>
            <a:ext cx="914400" cy="2331720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15" name="Text 13"/>
          <p:cNvSpPr/>
          <p:nvPr/>
        </p:nvSpPr>
        <p:spPr>
          <a:xfrm>
            <a:off x="1127760" y="10698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9669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(fp32 head, eager)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468880" y="1961274"/>
            <a:ext cx="914400" cy="1696326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18" name="Text 16"/>
          <p:cNvSpPr/>
          <p:nvPr/>
        </p:nvSpPr>
        <p:spPr>
          <a:xfrm>
            <a:off x="2377440" y="170524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582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24637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bf16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action head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18560" y="2410130"/>
            <a:ext cx="914400" cy="1247470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1" name="Text 19"/>
          <p:cNvSpPr/>
          <p:nvPr/>
        </p:nvSpPr>
        <p:spPr>
          <a:xfrm>
            <a:off x="3627120" y="215409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428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49605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Pipeline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&amp; caching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968240" y="2497569"/>
            <a:ext cx="914400" cy="1160031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4" name="Text 22"/>
          <p:cNvSpPr/>
          <p:nvPr/>
        </p:nvSpPr>
        <p:spPr>
          <a:xfrm>
            <a:off x="4876800" y="2241537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398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74573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Mixed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attention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17920" y="2867730"/>
            <a:ext cx="914400" cy="789870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7" name="Text 25"/>
          <p:cNvSpPr/>
          <p:nvPr/>
        </p:nvSpPr>
        <p:spPr>
          <a:xfrm>
            <a:off x="6126480" y="261169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271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99541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CUDA Graphs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compile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467600" y="2931852"/>
            <a:ext cx="914400" cy="7257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Text 28"/>
          <p:cNvSpPr/>
          <p:nvPr/>
        </p:nvSpPr>
        <p:spPr>
          <a:xfrm>
            <a:off x="7376160" y="26758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249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24509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ZeRO-2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comm tuning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172200" y="1413319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3.2× faster end to end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51560" y="41605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Cumulative levels re-measured per step with nsys attached on rank 0 (~5% overhead). The torch 2.7.1 + NCCL 2.26.2 environment upgrade landed between the bf16 and pipeline levels and is folded into the Pipeline bar. Final 249 ms = clean steady-state p50 of merged main.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7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Fix 1 · bf16 Action Head: −218 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 → 582 ms.  One config knob — and numerically a no-op for training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2984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by kernel class (baseline step, 543 ms)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609344"/>
            <a:ext cx="1920240" cy="182880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6" name="Text 4"/>
          <p:cNvSpPr/>
          <p:nvPr/>
        </p:nvSpPr>
        <p:spPr>
          <a:xfrm>
            <a:off x="2432304" y="158191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201 ms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792224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fp32 GEMM — all from the action head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57200" y="1956816"/>
            <a:ext cx="1203733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9" name="Text 7"/>
          <p:cNvSpPr/>
          <p:nvPr/>
        </p:nvSpPr>
        <p:spPr>
          <a:xfrm>
            <a:off x="1715797" y="192938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126 ms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139696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other (fla/GDN, embeddings, misc)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57200" y="2304288"/>
            <a:ext cx="974450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12" name="Text 10"/>
          <p:cNvSpPr/>
          <p:nvPr/>
        </p:nvSpPr>
        <p:spPr>
          <a:xfrm>
            <a:off x="1486514" y="227685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102 ms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487168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elementwise / norm / reduce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57200" y="2651760"/>
            <a:ext cx="630527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5" name="Text 13"/>
          <p:cNvSpPr/>
          <p:nvPr/>
        </p:nvSpPr>
        <p:spPr>
          <a:xfrm>
            <a:off x="1142591" y="262432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66 ms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2834640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bf16 GEMM (Qwen3.5)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2999232"/>
            <a:ext cx="257943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18" name="Text 16"/>
          <p:cNvSpPr/>
          <p:nvPr/>
        </p:nvSpPr>
        <p:spPr>
          <a:xfrm>
            <a:off x="770007" y="29718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 ms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3182112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copy / gather / cat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346704"/>
            <a:ext cx="210176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21" name="Text 19"/>
          <p:cNvSpPr/>
          <p:nvPr/>
        </p:nvSpPr>
        <p:spPr>
          <a:xfrm>
            <a:off x="722240" y="331927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22 ms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3529584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attention kernels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57200" y="373075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37% of all GPU math is fp32 </a:t>
            </a:r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— all of it from the 2.96B DiT outside the bf16 autocast region.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54880" y="129844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Same seed, 200 steps: loss is unchanged</a:t>
            </a:r>
            <a:endParaRPr lang="en-US" sz="1200" dirty="0"/>
          </a:p>
        </p:txBody>
      </p:sp>
      <p:graphicFrame>
        <p:nvGraphicFramePr>
          <p:cNvPr id="25" name="Chart 0" descr=""/>
          <p:cNvGraphicFramePr/>
          <p:nvPr/>
        </p:nvGraphicFramePr>
        <p:xfrm>
          <a:off x="4754880" y="1600200"/>
          <a:ext cx="393192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6" name="Text 23"/>
          <p:cNvSpPr/>
          <p:nvPr/>
        </p:nvSpPr>
        <p:spPr>
          <a:xfrm>
            <a:off x="4754880" y="373075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action loss, training steps 1 → 200 · mean per-step |Δ| = 0.04 (run-to-run noise floor) · final: 0.549 vs 0.533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57200" y="4041648"/>
            <a:ext cx="8229600" cy="38404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8" name="Shape 25"/>
          <p:cNvSpPr/>
          <p:nvPr/>
        </p:nvSpPr>
        <p:spPr>
          <a:xfrm>
            <a:off x="457200" y="4041648"/>
            <a:ext cx="54864" cy="3840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Text 26"/>
          <p:cNvSpPr/>
          <p:nvPr/>
        </p:nvSpPr>
        <p:spPr>
          <a:xfrm>
            <a:off x="640080" y="4041648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Why was it fp32 at all?  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Inherited caution for diffusion numerics. Only the timestep embedding and the loss math need fp32 — we kept exactly those in fp32 and moved the transformer body to bf16 (dit_dtype knob, one-line rollback).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3" name="Image 0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Fix 2+3 · Keep the GPU Fed: −117 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545 → 428 ms.  205 ms of every baseline step is GPU idle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Before — everything serialized inside forward()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457200" y="153619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325880" y="1536192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7" name="Shape 5"/>
          <p:cNvSpPr/>
          <p:nvPr/>
        </p:nvSpPr>
        <p:spPr>
          <a:xfrm>
            <a:off x="1325880" y="1554480"/>
            <a:ext cx="980237" cy="201168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8" name="Text 6"/>
          <p:cNvSpPr/>
          <p:nvPr/>
        </p:nvSpPr>
        <p:spPr>
          <a:xfrm>
            <a:off x="1325880" y="1554480"/>
            <a:ext cx="98023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preprocess ~40 ms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244852" y="1554480"/>
            <a:ext cx="122530" cy="20116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0" name="Shape 8"/>
          <p:cNvSpPr/>
          <p:nvPr/>
        </p:nvSpPr>
        <p:spPr>
          <a:xfrm>
            <a:off x="3010662" y="1554480"/>
            <a:ext cx="122530" cy="20116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1" name="Shape 9"/>
          <p:cNvSpPr/>
          <p:nvPr/>
        </p:nvSpPr>
        <p:spPr>
          <a:xfrm>
            <a:off x="3868369" y="1554480"/>
            <a:ext cx="122530" cy="20116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84708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H2D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325880" y="1847088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4" name="Shape 12"/>
          <p:cNvSpPr/>
          <p:nvPr/>
        </p:nvSpPr>
        <p:spPr>
          <a:xfrm>
            <a:off x="2183587" y="1865376"/>
            <a:ext cx="153162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15798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325880" y="2157984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7" name="Shape 15"/>
          <p:cNvSpPr/>
          <p:nvPr/>
        </p:nvSpPr>
        <p:spPr>
          <a:xfrm>
            <a:off x="2336749" y="2176272"/>
            <a:ext cx="612648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Text 16"/>
          <p:cNvSpPr/>
          <p:nvPr/>
        </p:nvSpPr>
        <p:spPr>
          <a:xfrm>
            <a:off x="2336749" y="2176272"/>
            <a:ext cx="61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fwd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194456" y="2176272"/>
            <a:ext cx="612648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Text 18"/>
          <p:cNvSpPr/>
          <p:nvPr/>
        </p:nvSpPr>
        <p:spPr>
          <a:xfrm>
            <a:off x="3194456" y="2176272"/>
            <a:ext cx="61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052164" y="2176272"/>
            <a:ext cx="245059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0" y="128016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After — CPU work overlaps the previous step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754880" y="153619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workers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623560" y="1536192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5" name="Shape 23"/>
          <p:cNvSpPr/>
          <p:nvPr/>
        </p:nvSpPr>
        <p:spPr>
          <a:xfrm>
            <a:off x="5623560" y="1554480"/>
            <a:ext cx="2879446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6" name="Text 24"/>
          <p:cNvSpPr/>
          <p:nvPr/>
        </p:nvSpPr>
        <p:spPr>
          <a:xfrm>
            <a:off x="5623560" y="1554480"/>
            <a:ext cx="28794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preprocess batch N+1 (8 DataLoader workers, pinned)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754880" y="184708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H2D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623560" y="1847088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9" name="Shape 27"/>
          <p:cNvSpPr/>
          <p:nvPr/>
        </p:nvSpPr>
        <p:spPr>
          <a:xfrm>
            <a:off x="5623560" y="1865376"/>
            <a:ext cx="183794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0" name="Text 28"/>
          <p:cNvSpPr/>
          <p:nvPr/>
        </p:nvSpPr>
        <p:spPr>
          <a:xfrm>
            <a:off x="4754880" y="215798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623560" y="2157984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32" name="Shape 30"/>
          <p:cNvSpPr/>
          <p:nvPr/>
        </p:nvSpPr>
        <p:spPr>
          <a:xfrm>
            <a:off x="5684825" y="2176272"/>
            <a:ext cx="98023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Text 31"/>
          <p:cNvSpPr/>
          <p:nvPr/>
        </p:nvSpPr>
        <p:spPr>
          <a:xfrm>
            <a:off x="5684825" y="2176272"/>
            <a:ext cx="98023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fwd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6695694" y="2176272"/>
            <a:ext cx="1133399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5" name="Text 33"/>
          <p:cNvSpPr/>
          <p:nvPr/>
        </p:nvSpPr>
        <p:spPr>
          <a:xfrm>
            <a:off x="6695694" y="2176272"/>
            <a:ext cx="113339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7859725" y="2176272"/>
            <a:ext cx="398221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250545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red = per-step syncs (loss readback, DS timers, mm-merge check): each one drains the launch pipeline and strands the GPU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61488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480560"/>
                <a:gridCol w="201168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Preprocess in workers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HF processor (image patches + tokenize) runs in 8 workers, overlapped with the previous step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~40 ms off the critical path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Side-stream H2D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pinned host batch + dedicated copy stream, overlaps the ZeRO-2 optimizer tail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upload hidden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Sync-free logging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DeepSpeed timers unsynchronized; loss .item() only on logging steps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 device syncs / step removed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MRoPE position-id cache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3D position ids precomputed on CPU, cached by image grid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~13 ms sync eliminated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+ Mixed attention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vision tower FA2 varlen (16 images / kernel); text stays SDPA — full FA2 measured slower at seq 192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−30 ms (428 → 398)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9" name="Text 36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42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Why CUDA Graphs: Launch-Bound Forward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Anatomy of the Qwen3.5 forward — same math, very different wall clock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39903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(eager)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920240" y="1417320"/>
            <a:ext cx="2131541" cy="3840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Text 4"/>
          <p:cNvSpPr/>
          <p:nvPr/>
        </p:nvSpPr>
        <p:spPr>
          <a:xfrm>
            <a:off x="1920240" y="1417320"/>
            <a:ext cx="213154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50 ms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51781" y="1417320"/>
            <a:ext cx="4177819" cy="3840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" name="Text 6"/>
          <p:cNvSpPr/>
          <p:nvPr/>
        </p:nvSpPr>
        <p:spPr>
          <a:xfrm>
            <a:off x="4051781" y="1417320"/>
            <a:ext cx="4177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waiting for launches 98 ms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302752" y="141732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148 ms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920240" y="1819656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3,929 kernel launches · 19.1 ms of cudaLaunchKernel CPU time · occupancy 34%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57200" y="226771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Optimized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(CUDA Graphs)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920240" y="2286000"/>
            <a:ext cx="1577340" cy="3840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" name="Text 11"/>
          <p:cNvSpPr/>
          <p:nvPr/>
        </p:nvSpPr>
        <p:spPr>
          <a:xfrm>
            <a:off x="1920240" y="2286000"/>
            <a:ext cx="1577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37 ms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497580" y="2286000"/>
            <a:ext cx="1193663" cy="3840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5" name="Text 13"/>
          <p:cNvSpPr/>
          <p:nvPr/>
        </p:nvSpPr>
        <p:spPr>
          <a:xfrm>
            <a:off x="3497580" y="2286000"/>
            <a:ext cx="119366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waiting for launches 28 ms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64395" y="22860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65 ms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920240" y="2688336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 graph launches + 736 eager · 9.4 ms launch CPU · occupancy 57%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920240" y="2907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2.3× </a:t>
            </a:r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faster forward wall clock — with 81% fewer launches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57200" y="3346704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An eager op costs 30–60 µs of Python dispatch + launch; the median kernel runs 8 µs — the GPU finishes before the CPU can feed the next one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suffers far less (C++ autograd engine, occupancy 70%) — forward is where launch overhead bites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 CUDA Graph replays an entire 8-layer group as ONE cudaGraphLaunch — per-op dispatch leaves the critical path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2062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Busy also shrinks 50 → 37 ms (mixed attention + fusion); the split isolates the launch effect. Windows: baseline Qwen3.5 fwd vs merged-main VLM fwd, same launch-window accounting.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4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CUDA Graphs — and Why Four, Not One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398 → 271 ms (−126).  Capture once, replay every step</a:t>
            </a:r>
            <a:endParaRPr lang="en-US" sz="1500" dirty="0"/>
          </a:p>
        </p:txBody>
      </p:sp>
      <p:pic>
        <p:nvPicPr>
          <p:cNvPr id="4" name="Image 0" descr="/work/tikz-graph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291962" cy="2834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206362" y="1371600"/>
            <a:ext cx="44804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Static shapes (pad-192) make capture possible; vision tower = 1 graph, DiT = torch.compile reduce-overhead, merge stays sync-free eager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4206362" y="1874520"/>
            <a:ext cx="44804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Why is the decoder FOUR graphs, not one?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206362" y="2176272"/>
            <a:ext cx="44804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fla/GDN layers ship @torch.compiler.disable → dynamo graph-breaks: a whole-stack compile fragments into many cudagraph partitions sharing ONE memory pool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That pool's allocator checkpointing collides with ZeRO-2's gradient-hook NCCL allocations in backward — hard crash on torch 2.6 AND 2.7.1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Four independent compiles = private pools, and gradient hooks fire between replays — backward AllReduce keeps overlapping compute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Cost: 4 launches vs 1 = microseconds. Group size 8 is the measured sweet spot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206362" y="3785616"/>
            <a:ext cx="4480438" cy="54864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9" name="Shape 6"/>
          <p:cNvSpPr/>
          <p:nvPr/>
        </p:nvSpPr>
        <p:spPr>
          <a:xfrm>
            <a:off x="4206362" y="3785616"/>
            <a:ext cx="54864" cy="54864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" name="Text 7"/>
          <p:cNvSpPr/>
          <p:nvPr/>
        </p:nvSpPr>
        <p:spPr>
          <a:xfrm>
            <a:off x="4389242" y="3785616"/>
            <a:ext cx="42061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Kernel launches: 13.9k → 6.4k per step. </a:t>
            </a:r>
            <a:pPr indent="0" marL="0">
              <a:buNone/>
            </a:pPr>
            <a:r>
              <a:rPr lang="en-US" sz="11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 launch cost leaves the critical path; GPU idle collapses.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9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4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ZeRO-2 Comm Tuning &amp; the Final Ledger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271 → 249 ms.  Fewer, larger collectives — and an honest ledger of what remains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reduce_bucket_size 5e8 → 1.5e9: 6 gradient AllReduces per step instead of ~20, scoped to this model's config only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reduce_scatter=false: drops DeepSpeed's redundant per-bucket flatten (CatArrayBatchedCopy) ahead of each AllReduce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Verified NOT bandwidth-bound: AllReduce microbenchmark hits 478 GB/s bus bandwidth — the NVLink per-direction ceiling. The remaining exposed comm can only shrink by sending fewer bytes.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2697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Per-step time ledger (same accounting, one steady step from each nsys capture)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304495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148840" y="3063240"/>
            <a:ext cx="3605332" cy="31089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" name="Text 6"/>
          <p:cNvSpPr/>
          <p:nvPr/>
        </p:nvSpPr>
        <p:spPr>
          <a:xfrm>
            <a:off x="2148840" y="3063240"/>
            <a:ext cx="36053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754172" y="3063240"/>
            <a:ext cx="411123" cy="31089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0" name="Shape 8"/>
          <p:cNvSpPr/>
          <p:nvPr/>
        </p:nvSpPr>
        <p:spPr>
          <a:xfrm>
            <a:off x="6165295" y="3063240"/>
            <a:ext cx="1368852" cy="31089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/>
          <p:nvPr/>
        </p:nvSpPr>
        <p:spPr>
          <a:xfrm>
            <a:off x="6165295" y="3063240"/>
            <a:ext cx="13688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589010" y="306324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807 ms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50215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148840" y="3520440"/>
            <a:ext cx="1169297" cy="31089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" name="Text 13"/>
          <p:cNvSpPr/>
          <p:nvPr/>
        </p:nvSpPr>
        <p:spPr>
          <a:xfrm>
            <a:off x="2148840" y="3520440"/>
            <a:ext cx="116929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175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18137" y="3520440"/>
            <a:ext cx="148164" cy="31089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7" name="Shape 15"/>
          <p:cNvSpPr/>
          <p:nvPr/>
        </p:nvSpPr>
        <p:spPr>
          <a:xfrm>
            <a:off x="3466301" y="3520440"/>
            <a:ext cx="289655" cy="31089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" name="Text 16"/>
          <p:cNvSpPr/>
          <p:nvPr/>
        </p:nvSpPr>
        <p:spPr>
          <a:xfrm>
            <a:off x="3810820" y="352044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249 ms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148840" y="4005072"/>
            <a:ext cx="164592" cy="12801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Text 18"/>
          <p:cNvSpPr/>
          <p:nvPr/>
        </p:nvSpPr>
        <p:spPr>
          <a:xfrm>
            <a:off x="2368296" y="3931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 busy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977640" y="4005072"/>
            <a:ext cx="164592" cy="12801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2" name="Text 20"/>
          <p:cNvSpPr/>
          <p:nvPr/>
        </p:nvSpPr>
        <p:spPr>
          <a:xfrm>
            <a:off x="4197096" y="3931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Exposed comm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06440" y="4005072"/>
            <a:ext cx="164592" cy="12801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4" name="Text 22"/>
          <p:cNvSpPr/>
          <p:nvPr/>
        </p:nvSpPr>
        <p:spPr>
          <a:xfrm>
            <a:off x="6025896" y="3931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Idle / launch gaps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2245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Gradient AllReduce 15.1 GB/step + optimizer AllGather 15.1 GB/step (bf16). Idle from 254 ms to 43 ms.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Batch Scaling: Sweet Spot at 24 per GPU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Same optimized config, only per-GPU batch changes — peak 340 samples/node/s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5840" y="384048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05840" y="322326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1318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05840" y="260604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514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05840" y="198882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973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05840" y="137160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2801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005840" y="2606040"/>
            <a:ext cx="4846320" cy="0"/>
          </a:xfrm>
          <a:prstGeom prst="line">
            <a:avLst/>
          </a:prstGeom>
          <a:noFill/>
          <a:ln w="15875">
            <a:solidFill>
              <a:srgbClr val="5E5E5E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51560" y="139903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   ·   dashed = 200/node/s target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268730" y="2254225"/>
            <a:ext cx="685800" cy="1586255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17" name="Text 15"/>
          <p:cNvSpPr/>
          <p:nvPr/>
        </p:nvSpPr>
        <p:spPr>
          <a:xfrm>
            <a:off x="1131570" y="1998193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257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3157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8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8585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23.1%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480310" y="1883893"/>
            <a:ext cx="685800" cy="1956587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1" name="Text 19"/>
          <p:cNvSpPr/>
          <p:nvPr/>
        </p:nvSpPr>
        <p:spPr>
          <a:xfrm>
            <a:off x="2343150" y="1627861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317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34315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16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29743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28.4%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691890" y="1741932"/>
            <a:ext cx="685800" cy="20985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5" name="Text 23"/>
          <p:cNvSpPr/>
          <p:nvPr/>
        </p:nvSpPr>
        <p:spPr>
          <a:xfrm>
            <a:off x="3554730" y="1485900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340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55473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24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50901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30.5%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903470" y="2235708"/>
            <a:ext cx="685800" cy="1604772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29" name="Text 27"/>
          <p:cNvSpPr/>
          <p:nvPr/>
        </p:nvSpPr>
        <p:spPr>
          <a:xfrm>
            <a:off x="4766310" y="1979676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260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76631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32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2059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23.3%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51560" y="13990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00800" y="1417320"/>
            <a:ext cx="2286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Batching amortizes launch and comm costs: MFU climbs 23% → 30.5%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32 regresses hard (986 ms/step): not OOM, not the dataloader — memory-pressure effects under investigation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Larger global batch (192) changes optimization dynamics — needs a convergence run before adoption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11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7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What We Ruled Out — and How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Negative results are results: every hypothesis got a same-node experiment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2011680"/>
                <a:gridCol w="42519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Hypothesis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Experiment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Verdict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FA2 for the text stack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A/B at seq 192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Slower (+10 ms): unpad/repad overhead exceeds kernel gains at short sequences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“NCCL is misconfigured”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Forced protocols, NCCL_DEBUG, microbenchmark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AllReduce already at 478 GB/s busbw = NVLink ceiling; kernel-name suffix was a red herring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masked_scatter nonzero sync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index_copy patch, bitwise-equal unit test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0 ms: the AllReduce tail is gradient-readiness-bound, so hiding the sync moves nothing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MRoPE cache still needed?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Toggle at final config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Neutral at the tip (CUDA Graphs hide it) — kept for CPU headroom, one-knob rollback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Whole-model torch.compile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Compile attempts on torch 2.6 &amp; 2.7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Hybrid GDN layers graph-break in dynamo → group-graph capture instead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FlashQLA GDN kernels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Kernel-time ceiling analysis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Only ~10.5 ms/step of GDN time exists; needs torch ≥ 2.8 — deferred, not worth the risk now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8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Remaining Headroom &amp; 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Where the next milliseconds live, ranked by ceiling — measured, not guessed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71600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6" name="Image 0" descr="/app/icons/m48-gpu-chip-256px-gr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17904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43000" y="14173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GEMMs at the power wall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[fp8 territory]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143000" y="1682496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Sustained GEMM throughput caps at ~622 TFLOPS on this node (power, not occupancy). The only lever left for the math itself is fp8.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2121408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121408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1" name="Image 1" descr="/app/icons/m48-distributed-learning-256px-gr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267712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43000" y="21671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Exposed communication (~30-55 ms)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[compression]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1143000" y="2432304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Bandwidth is at the NVLink ceiling; bytes are the only lever — 1-bit Adam / gradient compression, with convergence sign-off.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57200" y="2871216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57200" y="2871216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6" name="Image 2" descr="/app/icons/m48-cog-gear-256x-gr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1752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43000" y="291693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Optimizer tail (~25 ms)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[compiled autograd]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1143000" y="3182112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ZeRO-2 optimizer step + AllGather at step end; compiled autograd / fused optimizer can overlap part of it.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57200" y="3621024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57200" y="3621024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1" name="Image 3" descr="/app/icons/m48-scalability-up-sample-256px-gr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767328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43000" y="366674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Scale-out readiness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[deployment]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1143000" y="3931920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 split-topology nodes (4+4 NVLink islands) set NCCL_P2P_LEVEL=NVL — first collective hangs otherwise. bs24 adoption gated on a convergence run.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13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7" name="Image 4" descr="/app/logos/nvidia-logo-blk-s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QwenPI VLA Training Optimization on 8xH200</dc:title>
  <dc:subject>PptxGenJS Presentation</dc:subject>
  <dc:creator>Qihan Kang</dc:creator>
  <cp:lastModifiedBy>Qihan Kang</cp:lastModifiedBy>
  <cp:revision>1</cp:revision>
  <dcterms:created xsi:type="dcterms:W3CDTF">2026-07-22T08:51:40Z</dcterms:created>
  <dcterms:modified xsi:type="dcterms:W3CDTF">2026-07-22T08:51:40Z</dcterms:modified>
</cp:coreProperties>
</file>