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All numbers in this deck are same-node A/B measurements on 8×H200 (NVLink), nsys-verified.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slide: 3.2x step time, 3.2x throughput at same batch; batch scaling adds another 32% on 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Hybrid decoder = full attention + gated-delta-net (linear attention) layers — this matters later: GDN blocks whole-model torch.compile.
Action expert consumes VLM hidden states layer-wise (layerwise 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Timeline bars are real busy intervals from the nsys sqlite; badges 1/2/4/5 point at where each problem is visible.
Rows 2+3 land as one ladder level (pipeline &amp; caching, -117 ms); row 5 combines bucket sizing (PR11) and the redundant-flatten removal (PR12); row 6 covers the two config-level fixes.
[IMPORTANT] Key message: every fix in this deck was first SEEN here as a trace shape or a measured kernel cost - problems first, solutions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bar is a separate 60-step run at that cumulative level; bars show ACTUAL step time, not deltas. The next slides walk these levels.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 items landed as one level (-117 ms), mixed attention as the next (-30 ms).
Mixed attention is a measured trade: full FA2 including text was SLOWER — see the ruled-out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Graph capture preserves exact hidden-state semantics — verified fullgraph fwd+bwd and unchanged loss trajectory.
Group size 8 balances capture memory against launch savings; per-layer compile was ported but the fused graphs replaced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Ledger method: exposed comm = NCCL busy while no compute kernel runs; idle = nothing on any stream.
Remaining exposed comm is gradient-readiness-bound, not hook- or bandwidth-bound — verified by intervention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[IMPORTANT] Recommendation: bs 24 is the throughput config, gated on customer-side convergence validation (lr recalibration).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credibility anchor: what we did NOT ship is as evidence-based as what we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shipped is one MR per optimization with measured before/after — the repo history is the reproducibility story.
[IMPORTANT] Close: 3.2x is banked; the roadmap above is how we keep going.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" name="Image 0" descr="/app/logos/nvidia-logo-b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502920"/>
            <a:ext cx="1828800" cy="63093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103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VLA Training Optimization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3108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NVIDIA DevTech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76B9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Results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starVLA QwenPI: Qwen3.5-VL 4B + flow-matching action head, ZeRO-2 full fine-tune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21208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21208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30936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training step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249 ms/step (bs 8)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96896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96896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" name="Text 9"/>
          <p:cNvSpPr/>
          <p:nvPr/>
        </p:nvSpPr>
        <p:spPr>
          <a:xfrm>
            <a:off x="2596896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2706624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06624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80 at hand-off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72584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72584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23.1%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782312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FLOPs utilization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82312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up from 7.2% (bf16 peak)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48272" y="1417320"/>
            <a:ext cx="1874520" cy="1965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48272" y="1417320"/>
            <a:ext cx="1874520" cy="5486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1" name="Text 19"/>
          <p:cNvSpPr/>
          <p:nvPr/>
        </p:nvSpPr>
        <p:spPr>
          <a:xfrm>
            <a:off x="6748272" y="16459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6858000" y="2468880"/>
            <a:ext cx="1655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935224"/>
            <a:ext cx="1655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 bs 24 — 1.7× the 200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Method: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every optimization was profiled with Nsight Systems and validated with a same-node A/B run plus loss-trajectory checks — no stacked guesses, measured deltas only.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16052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Measurement: 8×H200 (NVLink), 60 steps, steady-state p50 of steps 21–44, per-GPU batch 8 unless noted.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&amp; Workload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7.5B trainable parameters: Qwen3.5-VL 4B backbone + 3B flow-matching action expert</a:t>
            </a:r>
            <a:endParaRPr lang="en-US" sz="1500" dirty="0"/>
          </a:p>
        </p:txBody>
      </p:sp>
      <p:pic>
        <p:nvPicPr>
          <p:cNvPr id="4" name="Image 0" descr="/work/tikz-mod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234440"/>
            <a:ext cx="3522026" cy="3017520"/>
          </a:xfrm>
          <a:prstGeom prst="rect">
            <a:avLst/>
          </a:prstGeom>
        </p:spPr>
      </p:pic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280160"/>
          <a:ext cx="3794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56032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Training configuration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Parameters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7.52B, all trainable (bf16)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Parallelism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ZeRO-2, DP=8, 1 node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ZeRO-2 tuning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1.5e9, reduce_scatter off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Optimizer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AdamW, fp32 master (sharded)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Batch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 / GPU → 64 global (up to 24/GPU)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Sequence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text fixed at 192 (left-pad)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Data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LIBERO manipulation, 2 views/sample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Hardware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8×H200 SXM, full NVLink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Software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torch 2.7.1 / NCCL 2.26.2 / HF 5.3 / FA2.8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 Diagnosis: Where Did 800 ms Go?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Five problems visible in one baseline step (nsys, 866 ms) — each maps to a fix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508760" y="1261872"/>
            <a:ext cx="1912226" cy="237744"/>
          </a:xfrm>
          <a:prstGeom prst="rect">
            <a:avLst/>
          </a:prstGeom>
          <a:solidFill>
            <a:srgbClr val="5D1682"/>
          </a:solidFill>
          <a:ln/>
        </p:spPr>
      </p:sp>
      <p:sp>
        <p:nvSpPr>
          <p:cNvPr id="5" name="Text 3"/>
          <p:cNvSpPr/>
          <p:nvPr/>
        </p:nvSpPr>
        <p:spPr>
          <a:xfrm>
            <a:off x="1508760" y="1261872"/>
            <a:ext cx="191222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Forward 270 ms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421693" y="1261872"/>
            <a:ext cx="3639101" cy="237744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7" name="Text 5"/>
          <p:cNvSpPr/>
          <p:nvPr/>
        </p:nvSpPr>
        <p:spPr>
          <a:xfrm>
            <a:off x="3421693" y="1261872"/>
            <a:ext cx="363910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514 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060794" y="1261872"/>
            <a:ext cx="574446" cy="237744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9" name="Text 7"/>
          <p:cNvSpPr/>
          <p:nvPr/>
        </p:nvSpPr>
        <p:spPr>
          <a:xfrm>
            <a:off x="7060794" y="1261872"/>
            <a:ext cx="5744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81 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6187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model phase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508760" y="1536192"/>
            <a:ext cx="565249" cy="237744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1508760" y="1536192"/>
            <a:ext cx="56524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prep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074009" y="1536192"/>
            <a:ext cx="1078855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4" name="Text 12"/>
          <p:cNvSpPr/>
          <p:nvPr/>
        </p:nvSpPr>
        <p:spPr>
          <a:xfrm>
            <a:off x="2074009" y="1536192"/>
            <a:ext cx="1078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Qwen3.5 153 ms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152864" y="1536192"/>
            <a:ext cx="268829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" name="Shape 14"/>
          <p:cNvSpPr/>
          <p:nvPr/>
        </p:nvSpPr>
        <p:spPr>
          <a:xfrm>
            <a:off x="3421693" y="1536192"/>
            <a:ext cx="2275145" cy="237744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1693" y="1536192"/>
            <a:ext cx="227514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DiT 322 ms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96839" y="1536192"/>
            <a:ext cx="1363955" cy="237744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9" name="Text 17"/>
          <p:cNvSpPr/>
          <p:nvPr/>
        </p:nvSpPr>
        <p:spPr>
          <a:xfrm>
            <a:off x="5696839" y="1536192"/>
            <a:ext cx="13639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Qwen3.5 193 ms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7060794" y="1536192"/>
            <a:ext cx="574446" cy="23774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1536192"/>
            <a:ext cx="978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module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1810512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SM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08760" y="1810512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7365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Shape 23"/>
          <p:cNvSpPr/>
          <p:nvPr/>
        </p:nvSpPr>
        <p:spPr>
          <a:xfrm>
            <a:off x="211291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6" name="Shape 24"/>
          <p:cNvSpPr/>
          <p:nvPr/>
        </p:nvSpPr>
        <p:spPr>
          <a:xfrm>
            <a:off x="2114970" y="1837944"/>
            <a:ext cx="566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7" name="Shape 25"/>
          <p:cNvSpPr/>
          <p:nvPr/>
        </p:nvSpPr>
        <p:spPr>
          <a:xfrm>
            <a:off x="2123106" y="1837944"/>
            <a:ext cx="255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8" name="Shape 26"/>
          <p:cNvSpPr/>
          <p:nvPr/>
        </p:nvSpPr>
        <p:spPr>
          <a:xfrm>
            <a:off x="215112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9" name="Shape 27"/>
          <p:cNvSpPr/>
          <p:nvPr/>
        </p:nvSpPr>
        <p:spPr>
          <a:xfrm>
            <a:off x="2156285" y="183794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Shape 28"/>
          <p:cNvSpPr/>
          <p:nvPr/>
        </p:nvSpPr>
        <p:spPr>
          <a:xfrm>
            <a:off x="2162086" y="1837944"/>
            <a:ext cx="657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1" name="Shape 29"/>
          <p:cNvSpPr/>
          <p:nvPr/>
        </p:nvSpPr>
        <p:spPr>
          <a:xfrm>
            <a:off x="2170363" y="1837944"/>
            <a:ext cx="119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2" name="Shape 30"/>
          <p:cNvSpPr/>
          <p:nvPr/>
        </p:nvSpPr>
        <p:spPr>
          <a:xfrm>
            <a:off x="2184017" y="1837944"/>
            <a:ext cx="1160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3" name="Shape 31"/>
          <p:cNvSpPr/>
          <p:nvPr/>
        </p:nvSpPr>
        <p:spPr>
          <a:xfrm>
            <a:off x="2197317" y="1837944"/>
            <a:ext cx="1139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210263" y="183794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5" name="Shape 33"/>
          <p:cNvSpPr/>
          <p:nvPr/>
        </p:nvSpPr>
        <p:spPr>
          <a:xfrm>
            <a:off x="2215781" y="1837944"/>
            <a:ext cx="77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6" name="Shape 34"/>
          <p:cNvSpPr/>
          <p:nvPr/>
        </p:nvSpPr>
        <p:spPr>
          <a:xfrm>
            <a:off x="2225473" y="1837944"/>
            <a:ext cx="502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7" name="Shape 35"/>
          <p:cNvSpPr/>
          <p:nvPr/>
        </p:nvSpPr>
        <p:spPr>
          <a:xfrm>
            <a:off x="2231133" y="1837944"/>
            <a:ext cx="62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8" name="Shape 36"/>
          <p:cNvSpPr/>
          <p:nvPr/>
        </p:nvSpPr>
        <p:spPr>
          <a:xfrm>
            <a:off x="2239127" y="1837944"/>
            <a:ext cx="48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4504" y="1837944"/>
            <a:ext cx="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0" name="Shape 38"/>
          <p:cNvSpPr/>
          <p:nvPr/>
        </p:nvSpPr>
        <p:spPr>
          <a:xfrm>
            <a:off x="2252993" y="183794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1" name="Shape 39"/>
          <p:cNvSpPr/>
          <p:nvPr/>
        </p:nvSpPr>
        <p:spPr>
          <a:xfrm>
            <a:off x="2258723" y="1837944"/>
            <a:ext cx="74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2" name="Shape 40"/>
          <p:cNvSpPr/>
          <p:nvPr/>
        </p:nvSpPr>
        <p:spPr>
          <a:xfrm>
            <a:off x="2268061" y="183794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2273580" y="1837944"/>
            <a:ext cx="629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4" name="Shape 42"/>
          <p:cNvSpPr/>
          <p:nvPr/>
        </p:nvSpPr>
        <p:spPr>
          <a:xfrm>
            <a:off x="2281574" y="1837944"/>
            <a:ext cx="1231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5" name="Shape 43"/>
          <p:cNvSpPr/>
          <p:nvPr/>
        </p:nvSpPr>
        <p:spPr>
          <a:xfrm>
            <a:off x="2296713" y="1837944"/>
            <a:ext cx="516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6" name="Shape 44"/>
          <p:cNvSpPr/>
          <p:nvPr/>
        </p:nvSpPr>
        <p:spPr>
          <a:xfrm>
            <a:off x="2302514" y="1837944"/>
            <a:ext cx="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7" name="Shape 45"/>
          <p:cNvSpPr/>
          <p:nvPr/>
        </p:nvSpPr>
        <p:spPr>
          <a:xfrm>
            <a:off x="2310791" y="1837944"/>
            <a:ext cx="1153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8" name="Shape 46"/>
          <p:cNvSpPr/>
          <p:nvPr/>
        </p:nvSpPr>
        <p:spPr>
          <a:xfrm>
            <a:off x="2324020" y="1837944"/>
            <a:ext cx="49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49" name="Shape 47"/>
          <p:cNvSpPr/>
          <p:nvPr/>
        </p:nvSpPr>
        <p:spPr>
          <a:xfrm>
            <a:off x="2329609" y="1837944"/>
            <a:ext cx="707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0" name="Shape 48"/>
          <p:cNvSpPr/>
          <p:nvPr/>
        </p:nvSpPr>
        <p:spPr>
          <a:xfrm>
            <a:off x="2338382" y="1837944"/>
            <a:ext cx="49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1" name="Shape 49"/>
          <p:cNvSpPr/>
          <p:nvPr/>
        </p:nvSpPr>
        <p:spPr>
          <a:xfrm>
            <a:off x="2344041" y="1837944"/>
            <a:ext cx="650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2" name="Shape 50"/>
          <p:cNvSpPr/>
          <p:nvPr/>
        </p:nvSpPr>
        <p:spPr>
          <a:xfrm>
            <a:off x="2352177" y="1837944"/>
            <a:ext cx="47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3" name="Shape 51"/>
          <p:cNvSpPr/>
          <p:nvPr/>
        </p:nvSpPr>
        <p:spPr>
          <a:xfrm>
            <a:off x="2357553" y="1837944"/>
            <a:ext cx="622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4" name="Shape 52"/>
          <p:cNvSpPr/>
          <p:nvPr/>
        </p:nvSpPr>
        <p:spPr>
          <a:xfrm>
            <a:off x="2365830" y="1837944"/>
            <a:ext cx="1273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5" name="Shape 53"/>
          <p:cNvSpPr/>
          <p:nvPr/>
        </p:nvSpPr>
        <p:spPr>
          <a:xfrm>
            <a:off x="2380262" y="1837944"/>
            <a:ext cx="1139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6" name="Shape 54"/>
          <p:cNvSpPr/>
          <p:nvPr/>
        </p:nvSpPr>
        <p:spPr>
          <a:xfrm>
            <a:off x="2393350" y="1837944"/>
            <a:ext cx="1117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7" name="Shape 55"/>
          <p:cNvSpPr/>
          <p:nvPr/>
        </p:nvSpPr>
        <p:spPr>
          <a:xfrm>
            <a:off x="2406013" y="1837944"/>
            <a:ext cx="113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418889" y="1837944"/>
            <a:ext cx="1181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59" name="Shape 57"/>
          <p:cNvSpPr/>
          <p:nvPr/>
        </p:nvSpPr>
        <p:spPr>
          <a:xfrm>
            <a:off x="2432330" y="1837944"/>
            <a:ext cx="48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437707" y="1837944"/>
            <a:ext cx="643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445843" y="1837944"/>
            <a:ext cx="1188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2" name="Shape 60"/>
          <p:cNvSpPr/>
          <p:nvPr/>
        </p:nvSpPr>
        <p:spPr>
          <a:xfrm>
            <a:off x="2459921" y="1837944"/>
            <a:ext cx="1209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3" name="Shape 61"/>
          <p:cNvSpPr/>
          <p:nvPr/>
        </p:nvSpPr>
        <p:spPr>
          <a:xfrm>
            <a:off x="2473928" y="1837944"/>
            <a:ext cx="48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4" name="Shape 62"/>
          <p:cNvSpPr/>
          <p:nvPr/>
        </p:nvSpPr>
        <p:spPr>
          <a:xfrm>
            <a:off x="2479376" y="183794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5" name="Shape 63"/>
          <p:cNvSpPr/>
          <p:nvPr/>
        </p:nvSpPr>
        <p:spPr>
          <a:xfrm>
            <a:off x="2485389" y="1837944"/>
            <a:ext cx="566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6" name="Shape 64"/>
          <p:cNvSpPr/>
          <p:nvPr/>
        </p:nvSpPr>
        <p:spPr>
          <a:xfrm>
            <a:off x="2492534" y="1837944"/>
            <a:ext cx="4138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7" name="Shape 65"/>
          <p:cNvSpPr/>
          <p:nvPr/>
        </p:nvSpPr>
        <p:spPr>
          <a:xfrm>
            <a:off x="2534556" y="1837944"/>
            <a:ext cx="1811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8" name="Shape 66"/>
          <p:cNvSpPr/>
          <p:nvPr/>
        </p:nvSpPr>
        <p:spPr>
          <a:xfrm>
            <a:off x="255507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69" name="Shape 67"/>
          <p:cNvSpPr/>
          <p:nvPr/>
        </p:nvSpPr>
        <p:spPr>
          <a:xfrm>
            <a:off x="25603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306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1" name="Shape 69"/>
          <p:cNvSpPr/>
          <p:nvPr/>
        </p:nvSpPr>
        <p:spPr>
          <a:xfrm>
            <a:off x="2565542" y="183794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2" name="Shape 70"/>
          <p:cNvSpPr/>
          <p:nvPr/>
        </p:nvSpPr>
        <p:spPr>
          <a:xfrm>
            <a:off x="257424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3" name="Shape 71"/>
          <p:cNvSpPr/>
          <p:nvPr/>
        </p:nvSpPr>
        <p:spPr>
          <a:xfrm>
            <a:off x="258068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4" name="Shape 72"/>
          <p:cNvSpPr/>
          <p:nvPr/>
        </p:nvSpPr>
        <p:spPr>
          <a:xfrm>
            <a:off x="2583229" y="1837944"/>
            <a:ext cx="905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5" name="Shape 73"/>
          <p:cNvSpPr/>
          <p:nvPr/>
        </p:nvSpPr>
        <p:spPr>
          <a:xfrm>
            <a:off x="259575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6" name="Shape 74"/>
          <p:cNvSpPr/>
          <p:nvPr/>
        </p:nvSpPr>
        <p:spPr>
          <a:xfrm>
            <a:off x="259836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7" name="Shape 75"/>
          <p:cNvSpPr/>
          <p:nvPr/>
        </p:nvSpPr>
        <p:spPr>
          <a:xfrm>
            <a:off x="2601834" y="1837944"/>
            <a:ext cx="105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8" name="Shape 76"/>
          <p:cNvSpPr/>
          <p:nvPr/>
        </p:nvSpPr>
        <p:spPr>
          <a:xfrm>
            <a:off x="261548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79" name="Shape 77"/>
          <p:cNvSpPr/>
          <p:nvPr/>
        </p:nvSpPr>
        <p:spPr>
          <a:xfrm>
            <a:off x="262100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0" name="Shape 78"/>
          <p:cNvSpPr/>
          <p:nvPr/>
        </p:nvSpPr>
        <p:spPr>
          <a:xfrm>
            <a:off x="262383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1" name="Shape 79"/>
          <p:cNvSpPr/>
          <p:nvPr/>
        </p:nvSpPr>
        <p:spPr>
          <a:xfrm>
            <a:off x="2627585" y="1837944"/>
            <a:ext cx="2065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2" name="Shape 80"/>
          <p:cNvSpPr/>
          <p:nvPr/>
        </p:nvSpPr>
        <p:spPr>
          <a:xfrm>
            <a:off x="265071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3" name="Shape 81"/>
          <p:cNvSpPr/>
          <p:nvPr/>
        </p:nvSpPr>
        <p:spPr>
          <a:xfrm>
            <a:off x="265687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4" name="Shape 82"/>
          <p:cNvSpPr/>
          <p:nvPr/>
        </p:nvSpPr>
        <p:spPr>
          <a:xfrm>
            <a:off x="2659279" y="1837944"/>
            <a:ext cx="84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5" name="Shape 83"/>
          <p:cNvSpPr/>
          <p:nvPr/>
        </p:nvSpPr>
        <p:spPr>
          <a:xfrm>
            <a:off x="26701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6" name="Shape 84"/>
          <p:cNvSpPr/>
          <p:nvPr/>
        </p:nvSpPr>
        <p:spPr>
          <a:xfrm>
            <a:off x="267286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7" name="Shape 85"/>
          <p:cNvSpPr/>
          <p:nvPr/>
        </p:nvSpPr>
        <p:spPr>
          <a:xfrm>
            <a:off x="2676116" y="1837944"/>
            <a:ext cx="1131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8" name="Shape 86"/>
          <p:cNvSpPr/>
          <p:nvPr/>
        </p:nvSpPr>
        <p:spPr>
          <a:xfrm>
            <a:off x="269061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9" name="Shape 87"/>
          <p:cNvSpPr/>
          <p:nvPr/>
        </p:nvSpPr>
        <p:spPr>
          <a:xfrm>
            <a:off x="269309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0" name="Shape 88"/>
          <p:cNvSpPr/>
          <p:nvPr/>
        </p:nvSpPr>
        <p:spPr>
          <a:xfrm>
            <a:off x="269691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1" name="Shape 89"/>
          <p:cNvSpPr/>
          <p:nvPr/>
        </p:nvSpPr>
        <p:spPr>
          <a:xfrm>
            <a:off x="2699603" y="1837944"/>
            <a:ext cx="178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2" name="Shape 90"/>
          <p:cNvSpPr/>
          <p:nvPr/>
        </p:nvSpPr>
        <p:spPr>
          <a:xfrm>
            <a:off x="2718138" y="1837944"/>
            <a:ext cx="509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3" name="Shape 91"/>
          <p:cNvSpPr/>
          <p:nvPr/>
        </p:nvSpPr>
        <p:spPr>
          <a:xfrm>
            <a:off x="27262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4" name="Shape 92"/>
          <p:cNvSpPr/>
          <p:nvPr/>
        </p:nvSpPr>
        <p:spPr>
          <a:xfrm>
            <a:off x="272853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5" name="Shape 93"/>
          <p:cNvSpPr/>
          <p:nvPr/>
        </p:nvSpPr>
        <p:spPr>
          <a:xfrm>
            <a:off x="2735188" y="1837944"/>
            <a:ext cx="1032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6" name="Shape 94"/>
          <p:cNvSpPr/>
          <p:nvPr/>
        </p:nvSpPr>
        <p:spPr>
          <a:xfrm>
            <a:off x="274848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7" name="Shape 95"/>
          <p:cNvSpPr/>
          <p:nvPr/>
        </p:nvSpPr>
        <p:spPr>
          <a:xfrm>
            <a:off x="2754006" y="1837944"/>
            <a:ext cx="1011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8" name="Shape 96"/>
          <p:cNvSpPr/>
          <p:nvPr/>
        </p:nvSpPr>
        <p:spPr>
          <a:xfrm>
            <a:off x="27670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99" name="Shape 97"/>
          <p:cNvSpPr/>
          <p:nvPr/>
        </p:nvSpPr>
        <p:spPr>
          <a:xfrm>
            <a:off x="276935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277240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2774876" y="183794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790581" y="1837944"/>
            <a:ext cx="806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8014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80614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80876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812370" y="1837944"/>
            <a:ext cx="1039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82503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283076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2833664" y="1837944"/>
            <a:ext cx="933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284632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2851633" y="1837944"/>
            <a:ext cx="2377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287766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288042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883539" y="1837944"/>
            <a:ext cx="108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289705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2903065" y="1837944"/>
            <a:ext cx="101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291530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292110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2923651" y="1837944"/>
            <a:ext cx="1358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2937800" y="1837944"/>
            <a:ext cx="742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294812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95088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2954001" y="1837944"/>
            <a:ext cx="1018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29665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2972111" y="1837944"/>
            <a:ext cx="997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298428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2989939" y="1837944"/>
            <a:ext cx="2384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01675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021916" y="1837944"/>
            <a:ext cx="990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0340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039673" y="1837944"/>
            <a:ext cx="955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05240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057642" y="1837944"/>
            <a:ext cx="2115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308098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86435" y="1837944"/>
            <a:ext cx="919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309641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102564" y="1837944"/>
            <a:ext cx="856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311183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117562" y="1837944"/>
            <a:ext cx="3508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54067" y="1837944"/>
            <a:ext cx="47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316029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3162697" y="1837944"/>
            <a:ext cx="1025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3173875" y="1837944"/>
            <a:ext cx="255168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727896" y="1837944"/>
            <a:ext cx="53631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266191" y="1837944"/>
            <a:ext cx="1266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285292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29010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29201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296965" y="1837944"/>
            <a:ext cx="870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306657" y="1837944"/>
            <a:ext cx="209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32816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33007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335308" y="1837944"/>
            <a:ext cx="4046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379029" y="1837944"/>
            <a:ext cx="45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853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38730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389994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392046" y="1837944"/>
            <a:ext cx="125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41143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415108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1" name="Shape 159"/>
          <p:cNvSpPr/>
          <p:nvPr/>
        </p:nvSpPr>
        <p:spPr>
          <a:xfrm>
            <a:off x="641680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2" name="Shape 160"/>
          <p:cNvSpPr/>
          <p:nvPr/>
        </p:nvSpPr>
        <p:spPr>
          <a:xfrm>
            <a:off x="6419495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3" name="Shape 161"/>
          <p:cNvSpPr/>
          <p:nvPr/>
        </p:nvSpPr>
        <p:spPr>
          <a:xfrm>
            <a:off x="6421546" y="1837944"/>
            <a:ext cx="1245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4" name="Shape 162"/>
          <p:cNvSpPr/>
          <p:nvPr/>
        </p:nvSpPr>
        <p:spPr>
          <a:xfrm>
            <a:off x="6435554" y="1837944"/>
            <a:ext cx="2115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7484" y="1837944"/>
            <a:ext cx="2016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478354" y="1837944"/>
            <a:ext cx="1301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92149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493918" y="1837944"/>
            <a:ext cx="474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500002" y="1837944"/>
            <a:ext cx="1245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51316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14787" y="1837944"/>
            <a:ext cx="45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520659" y="1837944"/>
            <a:ext cx="1209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5333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535020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40751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4407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546623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549877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551716" y="1837944"/>
            <a:ext cx="665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56119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585956" y="1837944"/>
            <a:ext cx="457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591050" y="1837944"/>
            <a:ext cx="1153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603218" y="1837944"/>
            <a:ext cx="530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609656" y="1837944"/>
            <a:ext cx="1542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626069" y="1837944"/>
            <a:ext cx="15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42340" y="1837944"/>
            <a:ext cx="1549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58965" y="1837944"/>
            <a:ext cx="1556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675590" y="1837944"/>
            <a:ext cx="1634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692993" y="1837944"/>
            <a:ext cx="1563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709689" y="1837944"/>
            <a:ext cx="1513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1" name="Shape 189"/>
          <p:cNvSpPr/>
          <p:nvPr/>
        </p:nvSpPr>
        <p:spPr>
          <a:xfrm>
            <a:off x="6725748" y="1837944"/>
            <a:ext cx="1450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742656" y="1837944"/>
            <a:ext cx="15705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759422" y="1837944"/>
            <a:ext cx="152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775623" y="1837944"/>
            <a:ext cx="1528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791823" y="183794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807953" y="183794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823941" y="1837944"/>
            <a:ext cx="1492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839859" y="1837944"/>
            <a:ext cx="14856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855706" y="1837944"/>
            <a:ext cx="15069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871835" y="1837944"/>
            <a:ext cx="14927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887611" y="1837944"/>
            <a:ext cx="1499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903600" y="1837944"/>
            <a:ext cx="10824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915202" y="1837944"/>
            <a:ext cx="6721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4" name="Shape 202"/>
          <p:cNvSpPr/>
          <p:nvPr/>
        </p:nvSpPr>
        <p:spPr>
          <a:xfrm>
            <a:off x="6922630" y="1837944"/>
            <a:ext cx="17403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5" name="Shape 203"/>
          <p:cNvSpPr/>
          <p:nvPr/>
        </p:nvSpPr>
        <p:spPr>
          <a:xfrm>
            <a:off x="6984956" y="1837944"/>
            <a:ext cx="153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6" name="Shape 204"/>
          <p:cNvSpPr/>
          <p:nvPr/>
        </p:nvSpPr>
        <p:spPr>
          <a:xfrm>
            <a:off x="7061289" y="1837944"/>
            <a:ext cx="67420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7" name="Shape 205"/>
          <p:cNvSpPr/>
          <p:nvPr/>
        </p:nvSpPr>
        <p:spPr>
          <a:xfrm>
            <a:off x="7130902" y="1837944"/>
            <a:ext cx="23558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158280" y="1837944"/>
            <a:ext cx="127552" cy="256032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9" name="Text 207"/>
          <p:cNvSpPr/>
          <p:nvPr/>
        </p:nvSpPr>
        <p:spPr>
          <a:xfrm>
            <a:off x="7671816" y="18105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544 ms · 63%</a:t>
            </a:r>
            <a:endParaRPr lang="en-US" sz="900" dirty="0"/>
          </a:p>
        </p:txBody>
      </p:sp>
      <p:sp>
        <p:nvSpPr>
          <p:cNvPr id="210" name="Text 208"/>
          <p:cNvSpPr/>
          <p:nvPr/>
        </p:nvSpPr>
        <p:spPr>
          <a:xfrm>
            <a:off x="457200" y="2212848"/>
            <a:ext cx="978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NCCL</a:t>
            </a:r>
            <a:endParaRPr lang="en-US" sz="1000" dirty="0"/>
          </a:p>
        </p:txBody>
      </p:sp>
      <p:sp>
        <p:nvSpPr>
          <p:cNvPr id="211" name="Shape 209"/>
          <p:cNvSpPr/>
          <p:nvPr/>
        </p:nvSpPr>
        <p:spPr>
          <a:xfrm>
            <a:off x="1508760" y="2212848"/>
            <a:ext cx="6126480" cy="310896"/>
          </a:xfrm>
          <a:prstGeom prst="rect">
            <a:avLst/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4308689" y="2240280"/>
            <a:ext cx="27307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3" name="Shape 211"/>
          <p:cNvSpPr/>
          <p:nvPr/>
        </p:nvSpPr>
        <p:spPr>
          <a:xfrm>
            <a:off x="4589615" y="2240280"/>
            <a:ext cx="2851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4" name="Shape 212"/>
          <p:cNvSpPr/>
          <p:nvPr/>
        </p:nvSpPr>
        <p:spPr>
          <a:xfrm>
            <a:off x="4879951" y="2240280"/>
            <a:ext cx="27095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5" name="Shape 213"/>
          <p:cNvSpPr/>
          <p:nvPr/>
        </p:nvSpPr>
        <p:spPr>
          <a:xfrm>
            <a:off x="5138240" y="2240280"/>
            <a:ext cx="2681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6" name="Shape 214"/>
          <p:cNvSpPr/>
          <p:nvPr/>
        </p:nvSpPr>
        <p:spPr>
          <a:xfrm>
            <a:off x="5418247" y="2240280"/>
            <a:ext cx="282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694433" y="2240280"/>
            <a:ext cx="3077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801328" y="2240280"/>
            <a:ext cx="40112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901291" y="2240280"/>
            <a:ext cx="40466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0" name="Shape 218"/>
          <p:cNvSpPr/>
          <p:nvPr/>
        </p:nvSpPr>
        <p:spPr>
          <a:xfrm>
            <a:off x="6006771" y="2240280"/>
            <a:ext cx="40254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104681" y="2240280"/>
            <a:ext cx="4110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204148" y="2240280"/>
            <a:ext cx="4089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318825" y="2240280"/>
            <a:ext cx="3990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448641" y="2240280"/>
            <a:ext cx="29500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940033" y="2240280"/>
            <a:ext cx="20233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6" name="Shape 224"/>
          <p:cNvSpPr/>
          <p:nvPr/>
        </p:nvSpPr>
        <p:spPr>
          <a:xfrm>
            <a:off x="7011202" y="2240280"/>
            <a:ext cx="33391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7" name="Shape 225"/>
          <p:cNvSpPr/>
          <p:nvPr/>
        </p:nvSpPr>
        <p:spPr>
          <a:xfrm>
            <a:off x="7285833" y="2240280"/>
            <a:ext cx="310498" cy="256032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8" name="Text 226"/>
          <p:cNvSpPr/>
          <p:nvPr/>
        </p:nvSpPr>
        <p:spPr>
          <a:xfrm>
            <a:off x="7671816" y="22128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114 ms · 13%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3421693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30" name="Shape 228"/>
          <p:cNvSpPr/>
          <p:nvPr/>
        </p:nvSpPr>
        <p:spPr>
          <a:xfrm>
            <a:off x="7060794" y="1810512"/>
            <a:ext cx="0" cy="713232"/>
          </a:xfrm>
          <a:prstGeom prst="line">
            <a:avLst/>
          </a:prstGeom>
          <a:noFill/>
          <a:ln w="9525">
            <a:solidFill>
              <a:srgbClr val="5E5E5E"/>
            </a:solidFill>
            <a:prstDash val="dash"/>
          </a:ln>
        </p:spPr>
      </p:sp>
      <p:sp>
        <p:nvSpPr>
          <p:cNvPr id="231" name="Shape 229"/>
          <p:cNvSpPr/>
          <p:nvPr/>
        </p:nvSpPr>
        <p:spPr>
          <a:xfrm>
            <a:off x="1508760" y="2633472"/>
            <a:ext cx="612648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1508760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3" name="Text 231"/>
          <p:cNvSpPr/>
          <p:nvPr/>
        </p:nvSpPr>
        <p:spPr>
          <a:xfrm>
            <a:off x="1234440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800" dirty="0"/>
          </a:p>
        </p:txBody>
      </p:sp>
      <p:sp>
        <p:nvSpPr>
          <p:cNvPr id="234" name="Shape 232"/>
          <p:cNvSpPr/>
          <p:nvPr/>
        </p:nvSpPr>
        <p:spPr>
          <a:xfrm>
            <a:off x="2923651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5" name="Text 233"/>
          <p:cNvSpPr/>
          <p:nvPr/>
        </p:nvSpPr>
        <p:spPr>
          <a:xfrm>
            <a:off x="2649331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800" dirty="0"/>
          </a:p>
        </p:txBody>
      </p:sp>
      <p:sp>
        <p:nvSpPr>
          <p:cNvPr id="236" name="Shape 234"/>
          <p:cNvSpPr/>
          <p:nvPr/>
        </p:nvSpPr>
        <p:spPr>
          <a:xfrm>
            <a:off x="4338543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4064223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800" dirty="0"/>
          </a:p>
        </p:txBody>
      </p:sp>
      <p:sp>
        <p:nvSpPr>
          <p:cNvPr id="238" name="Shape 236"/>
          <p:cNvSpPr/>
          <p:nvPr/>
        </p:nvSpPr>
        <p:spPr>
          <a:xfrm>
            <a:off x="5753434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39" name="Text 237"/>
          <p:cNvSpPr/>
          <p:nvPr/>
        </p:nvSpPr>
        <p:spPr>
          <a:xfrm>
            <a:off x="5479114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800" dirty="0"/>
          </a:p>
        </p:txBody>
      </p:sp>
      <p:sp>
        <p:nvSpPr>
          <p:cNvPr id="240" name="Shape 238"/>
          <p:cNvSpPr/>
          <p:nvPr/>
        </p:nvSpPr>
        <p:spPr>
          <a:xfrm>
            <a:off x="7168326" y="2633472"/>
            <a:ext cx="0" cy="45720"/>
          </a:xfrm>
          <a:prstGeom prst="line">
            <a:avLst/>
          </a:prstGeom>
          <a:noFill/>
          <a:ln w="12700">
            <a:solidFill>
              <a:srgbClr val="8C8C8C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6894006" y="267919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800" dirty="0"/>
          </a:p>
        </p:txBody>
      </p:sp>
      <p:sp>
        <p:nvSpPr>
          <p:cNvPr id="242" name="Text 240"/>
          <p:cNvSpPr/>
          <p:nvPr/>
        </p:nvSpPr>
        <p:spPr>
          <a:xfrm>
            <a:off x="5806440" y="28346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ms within one training step</a:t>
            </a:r>
            <a:endParaRPr lang="en-US" sz="800" dirty="0"/>
          </a:p>
        </p:txBody>
      </p:sp>
      <p:sp>
        <p:nvSpPr>
          <p:cNvPr id="243" name="Shape 241"/>
          <p:cNvSpPr/>
          <p:nvPr/>
        </p:nvSpPr>
        <p:spPr>
          <a:xfrm>
            <a:off x="1700298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44" name="Text 242"/>
          <p:cNvSpPr/>
          <p:nvPr/>
        </p:nvSpPr>
        <p:spPr>
          <a:xfrm>
            <a:off x="1700298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</a:t>
            </a:r>
            <a:endParaRPr lang="en-US" sz="850" dirty="0"/>
          </a:p>
        </p:txBody>
      </p:sp>
      <p:sp>
        <p:nvSpPr>
          <p:cNvPr id="245" name="Shape 243"/>
          <p:cNvSpPr/>
          <p:nvPr/>
        </p:nvSpPr>
        <p:spPr>
          <a:xfrm>
            <a:off x="2655350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46" name="Text 244"/>
          <p:cNvSpPr/>
          <p:nvPr/>
        </p:nvSpPr>
        <p:spPr>
          <a:xfrm>
            <a:off x="2655350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850" dirty="0"/>
          </a:p>
        </p:txBody>
      </p:sp>
      <p:sp>
        <p:nvSpPr>
          <p:cNvPr id="247" name="Shape 245"/>
          <p:cNvSpPr/>
          <p:nvPr/>
        </p:nvSpPr>
        <p:spPr>
          <a:xfrm>
            <a:off x="4459337" y="1874520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48" name="Text 246"/>
          <p:cNvSpPr/>
          <p:nvPr/>
        </p:nvSpPr>
        <p:spPr>
          <a:xfrm>
            <a:off x="4459337" y="1874520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</a:t>
            </a:r>
            <a:endParaRPr lang="en-US" sz="850" dirty="0"/>
          </a:p>
        </p:txBody>
      </p:sp>
      <p:sp>
        <p:nvSpPr>
          <p:cNvPr id="249" name="Shape 247"/>
          <p:cNvSpPr/>
          <p:nvPr/>
        </p:nvSpPr>
        <p:spPr>
          <a:xfrm>
            <a:off x="7345715" y="2276856"/>
            <a:ext cx="182880" cy="18288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250" name="Text 248"/>
          <p:cNvSpPr/>
          <p:nvPr/>
        </p:nvSpPr>
        <p:spPr>
          <a:xfrm>
            <a:off x="7345715" y="22768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099816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4114800"/>
                <a:gridCol w="2468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 · fp32 action head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201 ms fp32 GEMMs vs 66 ms bf16 — 2.96B DiT outside autocast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bf16 DiT  (−218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2 · CPU inside forward()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first 80 ms of every step: compute idle, HF preprocessing on critical path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collate in DataLoader workers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 · Per-step syncs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loss readback, DS timers, MRoPE position-ids, mm-merge check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 + caches  (2+3: −117)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4 · Launch-bound eager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13,868 launches/step, median 8 µs, 79% &lt; 20 µs — 254 ms pure idle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CUDA Graphs + compile  (−126 ms)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5 · Comm configuration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15 small AR buckets; 22 ms redundant flatten; 44 ms exposed AllGather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bucket 1.5e9 + reduce_scatter off  (−22)</a:t>
                      </a:r>
                      <a:endParaRPr lang="en-US" sz="8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2" name="Text 249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3" name="Text 250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</a:t>
            </a:r>
            <a:endParaRPr lang="en-US" sz="1000" dirty="0"/>
          </a:p>
        </p:txBody>
      </p:sp>
      <p:sp>
        <p:nvSpPr>
          <p:cNvPr id="254" name="Shape 251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55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Optimization Roadmap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Actual step time (ms) after each optimization lands — same node, steady-state p50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51560" y="365760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5661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51560" y="307467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98323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51560" y="249174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4003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51560" y="190881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1737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51560" y="1325880"/>
            <a:ext cx="749808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34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219200" y="1325880"/>
            <a:ext cx="914400" cy="2331720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127760" y="10698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966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(fp32 head, eager)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468880" y="1961274"/>
            <a:ext cx="914400" cy="1696326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8" name="Text 16"/>
          <p:cNvSpPr/>
          <p:nvPr/>
        </p:nvSpPr>
        <p:spPr>
          <a:xfrm>
            <a:off x="2377440" y="170524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582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4637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bf16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action head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18560" y="2410130"/>
            <a:ext cx="914400" cy="12474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3627120" y="21540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49605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Pipeline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&amp; caching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68240" y="2497569"/>
            <a:ext cx="914400" cy="1160031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4" name="Text 22"/>
          <p:cNvSpPr/>
          <p:nvPr/>
        </p:nvSpPr>
        <p:spPr>
          <a:xfrm>
            <a:off x="4876800" y="2241537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4573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Mixed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attention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17920" y="2867730"/>
            <a:ext cx="914400" cy="789870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261169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99541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CUDA Graphs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compile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7467600" y="2931852"/>
            <a:ext cx="914400" cy="7257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376160" y="26758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245096" y="3730752"/>
            <a:ext cx="1359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+ ZeRO-2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comm tuning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1413319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3.2× faster end to 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51560" y="41605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Cumulative levels re-measured per step with nsys attached on rank 0 (~5% overhead). The torch 2.7.1 + NCCL 2.26.2 environment upgrade landed between the bf16 and pipeline levels and is folded into the Pipeline bar. Final 249 ms = clean steady-state p50 of merged main.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First Wins: bf16 Head + Software Stack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800 → 545 ms.  The two cheapest changes bought 32%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bf16 action head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−218 ms (800 → 582)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8580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The 2.96B DiT ran in fp32 — one config knob moves it under bf16 autocast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Loss &amp; timestep math stay fp32; same-seed 100-step loss trajectory unchanged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Single-switch rollback: dit_dtype=none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09160" y="1371600"/>
            <a:ext cx="3977640" cy="2514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1371600"/>
            <a:ext cx="3977640" cy="54864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icons/m48-rocket-3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60020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532120" y="1600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torch 2.7.1 + NCCL 2.26.2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4937760" y="2148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−37 ms (582 → 545)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937760" y="256032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Container-level upgrade, zero code change (plus triton 3.3.1)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Faster eager kernels and NCCL launch path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Prerequisite for the CUDA-Graph work (slide 8)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Takeaway: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audit precision policy and framework versions before touching any code — they set the floor everything else stands on.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6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0" name="Image 2" descr="/app/logos/nvidia-logo-blk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Keep the GPU Fed: Pipeline &amp; Syncs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545 → 398 ms.  CPU work off the critical path, no per-step syncs, right attention per stack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43484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Preprocess in DataLoader workers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HF processor (tokenize + image patches) runs in 8 workers, overlapped with the previous step's GPU work; batches arrive as pinned CPU tensors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~40 ms of forward-path CPU removed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Side-stream H2D copies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Pinned host batch + dedicated copy stream overlaps upload with the ZeRO-2 optimizer tail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H2D off the critical path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Sync-free logging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DeepSpeed timers unsynchronized; loss .item() only on logging steps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removes 2 device syncs / step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position-id cache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3D position ids precomputed on CPU and cached — they depend only on the image grid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~13 ms sync eliminated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Mixed attention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Vision tower on FA2 varlen (one kernel per layer for all 16 images); text stays SDPA — at seq 192 FA2's unpad/repad is a net loss (measured)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8564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−30 ms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3977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Principle: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a training step should launch GPU work and get out of the way — anything the CPU must compute belongs in workers or caches, and anything that reads a GPU value blocks the launch pipeline.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CUDA Graphs &amp; torch.compile: −126 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398 → 271 ms.  Replay the whole network as six graphs instead of ~14k eager launches</a:t>
            </a:r>
            <a:endParaRPr lang="en-US" sz="1500" dirty="0"/>
          </a:p>
        </p:txBody>
      </p:sp>
      <p:pic>
        <p:nvPicPr>
          <p:cNvPr id="4" name="Image 0" descr="/work/tikz-grap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962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06362" y="1417320"/>
            <a:ext cx="448043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Whole-model compile is blocked: the hybrid GDN layers (fla library) graph-break in dynamo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So we capture around it: 32 text layers grouped into 4 CUDA Graphs of 8 layers each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Vision tower captured as a single graph (FA2 kernels inside, host-cached max_seqlen)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Static shapes make it possible: text fixed at 192, encoder padded to 192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Sync-free multimodal merge: removed a device-to-host validation readback in the image-token scatter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206362" y="3657600"/>
            <a:ext cx="4480438" cy="658368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Shape 4"/>
          <p:cNvSpPr/>
          <p:nvPr/>
        </p:nvSpPr>
        <p:spPr>
          <a:xfrm>
            <a:off x="4206362" y="3657600"/>
            <a:ext cx="54864" cy="65836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5"/>
          <p:cNvSpPr/>
          <p:nvPr/>
        </p:nvSpPr>
        <p:spPr>
          <a:xfrm>
            <a:off x="4389242" y="3657600"/>
            <a:ext cx="42061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Kernel launches: 13.9k → 6.4k per step. </a:t>
            </a:r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CPU launch cost leaves the critical path; GPU idle collapses.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2" name="Image 1" descr="/app/logos/nvidia-logo-blk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Comm Tuning &amp; the Final Ledger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271 → 249 ms.  Fewer, larger collectives — and an honest ledger of what remains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reduce_bucket_size 5e8 → 1.5e9: 6 gradient AllReduces per step instead of ~20, scoped to this model's config only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reduce_scatter=false: drops DeepSpeed's redundant per-bucket flatten (CatArrayBatchedCopy) ahead of each AllReduce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Verified NOT bandwidth-bound: AllReduce microbenchmark hits 478 GB/s bus bandwidth — the NVLink per-direction ceiling. The remaining exposed comm can only shrink by sending fewer bytes.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Per-step time ledger (same accounting, one steady step from each nsys capture)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449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Baseline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3063240"/>
            <a:ext cx="3596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539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745496" y="3063240"/>
            <a:ext cx="407118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0" name="Shape 8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/>
          <p:nvPr/>
        </p:nvSpPr>
        <p:spPr>
          <a:xfrm>
            <a:off x="6152614" y="3063240"/>
            <a:ext cx="169588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903359" y="30632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866 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15" name="Text 13"/>
          <p:cNvSpPr/>
          <p:nvPr/>
        </p:nvSpPr>
        <p:spPr>
          <a:xfrm>
            <a:off x="2148840" y="3520440"/>
            <a:ext cx="116929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175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18137" y="3520440"/>
            <a:ext cx="148164" cy="31089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17" name="Shape 15"/>
          <p:cNvSpPr/>
          <p:nvPr/>
        </p:nvSpPr>
        <p:spPr>
          <a:xfrm>
            <a:off x="3466301" y="3520440"/>
            <a:ext cx="289655" cy="31089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" name="Text 16"/>
          <p:cNvSpPr/>
          <p:nvPr/>
        </p:nvSpPr>
        <p:spPr>
          <a:xfrm>
            <a:off x="3810820" y="352044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249 ms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148840" y="4005072"/>
            <a:ext cx="164592" cy="128016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0" name="Text 18"/>
          <p:cNvSpPr/>
          <p:nvPr/>
        </p:nvSpPr>
        <p:spPr>
          <a:xfrm>
            <a:off x="23682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Compute busy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977640" y="4005072"/>
            <a:ext cx="164592" cy="128016"/>
          </a:xfrm>
          <a:prstGeom prst="rect">
            <a:avLst/>
          </a:prstGeom>
          <a:solidFill>
            <a:srgbClr val="0071C5"/>
          </a:solidFill>
          <a:ln/>
        </p:spPr>
      </p:sp>
      <p:sp>
        <p:nvSpPr>
          <p:cNvPr id="22" name="Text 20"/>
          <p:cNvSpPr/>
          <p:nvPr/>
        </p:nvSpPr>
        <p:spPr>
          <a:xfrm>
            <a:off x="41970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06440" y="4005072"/>
            <a:ext cx="164592" cy="128016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" name="Text 22"/>
          <p:cNvSpPr/>
          <p:nvPr/>
        </p:nvSpPr>
        <p:spPr>
          <a:xfrm>
            <a:off x="6025896" y="393192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Idle / launch gaps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Gradient AllReduce 15.1 GB/step + optimizer AllGather 15.1 GB/step (bf16). Idle from 254 ms to 43 ms.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9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9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 Scaling: Sweet Spot at 24 per GPU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Same optimized config, only per-GPU batch changes — peak 340 samples/node/s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05840" y="384048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7490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05840" y="322326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1318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5146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05840" y="198882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9738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300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005840" y="1371600"/>
            <a:ext cx="4846320" cy="0"/>
          </a:xfrm>
          <a:prstGeom prst="line">
            <a:avLst/>
          </a:prstGeom>
          <a:noFill/>
          <a:ln w="9525">
            <a:solidFill>
              <a:srgbClr val="EAEA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128016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400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005840" y="2606040"/>
            <a:ext cx="4846320" cy="0"/>
          </a:xfrm>
          <a:prstGeom prst="line">
            <a:avLst/>
          </a:prstGeom>
          <a:noFill/>
          <a:ln w="15875">
            <a:solidFill>
              <a:srgbClr val="5E5E5E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139903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   ·   dashed = 200/node/s target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268730" y="2254225"/>
            <a:ext cx="685800" cy="1586255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31570" y="1998193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257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3157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8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8585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23.1%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80310" y="1883893"/>
            <a:ext cx="685800" cy="1956587"/>
          </a:xfrm>
          <a:prstGeom prst="rect">
            <a:avLst/>
          </a:prstGeom>
          <a:solidFill>
            <a:srgbClr val="008564"/>
          </a:solidFill>
          <a:ln/>
        </p:spPr>
      </p:sp>
      <p:sp>
        <p:nvSpPr>
          <p:cNvPr id="21" name="Text 19"/>
          <p:cNvSpPr/>
          <p:nvPr/>
        </p:nvSpPr>
        <p:spPr>
          <a:xfrm>
            <a:off x="2343150" y="1627861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8564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317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34315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16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9743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28.4%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91890" y="1741932"/>
            <a:ext cx="685800" cy="2098548"/>
          </a:xfrm>
          <a:prstGeom prst="rect">
            <a:avLst/>
          </a:prstGeom>
          <a:solidFill>
            <a:srgbClr val="76B900"/>
          </a:solidFill>
          <a:ln/>
        </p:spPr>
      </p:sp>
      <p:sp>
        <p:nvSpPr>
          <p:cNvPr id="25" name="Text 23"/>
          <p:cNvSpPr/>
          <p:nvPr/>
        </p:nvSpPr>
        <p:spPr>
          <a:xfrm>
            <a:off x="3554730" y="1485900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340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55473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24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0901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30.5%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903470" y="2235708"/>
            <a:ext cx="685800" cy="1604772"/>
          </a:xfrm>
          <a:prstGeom prst="rect">
            <a:avLst/>
          </a:prstGeom>
          <a:solidFill>
            <a:srgbClr val="890C58"/>
          </a:solidFill>
          <a:ln/>
        </p:spPr>
      </p:sp>
      <p:sp>
        <p:nvSpPr>
          <p:cNvPr id="29" name="Text 27"/>
          <p:cNvSpPr/>
          <p:nvPr/>
        </p:nvSpPr>
        <p:spPr>
          <a:xfrm>
            <a:off x="4766310" y="1979676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0C58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260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766310" y="3895344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20590" y="4096512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MFU 23.3%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51560" y="139903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C8C8C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samples / node / 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00800" y="1417320"/>
            <a:ext cx="2286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Batching amortizes launch and comm costs: MFU climbs 23% → 30.5%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bs 32 regresses hard (986 ms/step): not OOM, not the dataloader — memory-pressure effects under investigation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Larger global batch (192) changes optimization dynamics — needs a convergence run before adoption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37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What We Ruled Out — and 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Negative results are results: every hypothesis got a same-node experiment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2011680"/>
                <a:gridCol w="4251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Hypothesis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Experiment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Verdict</a:t>
                      </a:r>
                      <a:endParaRPr lang="en-US" sz="11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6B90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FA2 for the text stack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A/B at seq 192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Slower (+10 ms): unpad/repad overhead exceeds kernel gains at short sequences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“NCCL is misconfigured”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Forced protocols, NCCL_DEBUG, microbenchmark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AllReduce already at 478 GB/s busbw = NVLink ceiling; kernel-name suffix was a red herring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masked_scatter nonzero sync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index_copy patch, bitwise-equal unit test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0 ms: the AllReduce tail is gradient-readiness-bound, so hiding the sync moves nothing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MRoPE cache still needed?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Toggle at final config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Neutral at the tip (CUDA Graphs hide it) — kept for CPU headroom, one-knob rollback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Whole-model torch.compile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Compile attempts on torch 2.6 &amp; 2.7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Hybrid GDN layers graph-break in dynamo → group-graph capture instead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FlashQLA GDN kernels</a:t>
                      </a:r>
                      <a:endParaRPr lang="en-US" sz="105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Kernel-time ceiling analysis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NVIDIA Sans" pitchFamily="34" charset="0"/>
                          <a:ea typeface="NVIDIA Sans" pitchFamily="34" charset="-122"/>
                          <a:cs typeface="NVIDIA Sans" pitchFamily="34" charset="-120"/>
                        </a:rPr>
                        <a:t>Only ~10.5 ms/step of GDN time exists; needs torch ≥ 2.8 — deferred, not worth the risk now</a:t>
                      </a:r>
                      <a:endParaRPr lang="en-US" sz="1000" dirty="0">
                        <a:latin typeface="NVIDIA Sans" charset="0"/>
                        <a:ea typeface="NVIDIA Sans" charset="0"/>
                        <a:cs typeface="NVIDIA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CD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8" name="Image 0" descr="/app/logos/nvidia-logo-blk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Remaining Headroom &amp;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Where the next milliseconds live, ranked by ceiling — measured, not guessed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6" name="Image 0" descr="/app/icons/m48-gpu-chip-256px-g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4173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Backward GEMMs at the power wall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[fp8 territory]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143000" y="168249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Sustained GEMM throughput caps at ~622 TFLOPS on this node (power, not occupancy). The only lever left for the math itself is fp8.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2121408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121408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1" name="Image 1" descr="/app/icons/m48-distributed-learning-256px-g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67712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43000" y="21671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Exposed communication (~30-55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[compression]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1143000" y="243230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Bandwidth is at the NVLink ceiling; bytes are the only lever — 1-bit Adam / gradient compression, with convergence sign-off.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2871216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" y="2871216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16" name="Image 2" descr="/app/icons/m48-cog-gear-256x-g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01752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43000" y="291693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Optimizer tail (~25 ms)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[compiled autograd]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43000" y="3182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ZeRO-2 optimizer step + AllGather at step end; compiled autograd / fused optimizer can overlap part of it.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621024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57200" y="3621024"/>
            <a:ext cx="54864" cy="64008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1" name="Image 3" descr="/app/icons/m48-scalability-up-sample-256px-gr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767328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43000" y="366674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Scale-out readiness  </a:t>
            </a:r>
            <a:pPr indent="0" marL="0">
              <a:buNone/>
            </a:pPr>
            <a:r>
              <a:rPr lang="en-US" sz="1100" b="1" dirty="0">
                <a:solidFill>
                  <a:srgbClr val="76B900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[deployment]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143000" y="39319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On split-topology nodes (4+4 NVLink islands) set NCCL_P2P_LEVEL=NVL — first collective hangs otherwise. bs24 adoption gated on a convergence run.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457200" y="4617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QwenPI Training Optimization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7360920" y="46177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5E5E"/>
                </a:solidFill>
                <a:latin typeface="NVIDIA Sans" pitchFamily="34" charset="0"/>
                <a:ea typeface="NVIDIA Sans" pitchFamily="34" charset="-122"/>
                <a:cs typeface="NVIDIA Sans" pitchFamily="34" charset="-120"/>
              </a:rPr>
              <a:t>12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7726680" y="4617720"/>
            <a:ext cx="36576" cy="320040"/>
          </a:xfrm>
          <a:prstGeom prst="rect">
            <a:avLst/>
          </a:prstGeom>
          <a:solidFill>
            <a:srgbClr val="76B900"/>
          </a:solidFill>
          <a:ln/>
        </p:spPr>
      </p:sp>
      <p:pic>
        <p:nvPicPr>
          <p:cNvPr id="27" name="Image 4" descr="/app/logos/nvidia-logo-blk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4604004"/>
            <a:ext cx="1005840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QwenPI VLA Training Optimization on 8xH200</dc:title>
  <dc:subject>PptxGenJS Presentation</dc:subject>
  <dc:creator>Qihan Kang</dc:creator>
  <cp:lastModifiedBy>Qihan Kang</cp:lastModifiedBy>
  <cp:revision>1</cp:revision>
  <dcterms:created xsi:type="dcterms:W3CDTF">2026-07-22T06:53:34Z</dcterms:created>
  <dcterms:modified xsi:type="dcterms:W3CDTF">2026-07-22T06:53:34Z</dcterms:modified>
</cp:coreProperties>
</file>