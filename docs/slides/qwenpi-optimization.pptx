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fp32 head (reference)</c:v>
                </c:pt>
              </c:strCache>
            </c:strRef>
          </c:tx>
          <c:spPr>
            <a:solidFill>
              <a:srgbClr val="8C8C8C"/>
            </a:solidFill>
            <a:ln w="19050" cap="flat">
              <a:solidFill>
                <a:srgbClr val="8C8C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Sheet1!$A$2:$A$201</c:f>
              <c:multiLvlStrCache>
                <c:ptCount val="2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</c:lvl>
              </c:multiLvlStrCache>
            </c:multiLvlStrRef>
          </c:cat>
          <c:val>
            <c:numRef>
              <c:f>Sheet1!$B$2:$B$201</c:f>
              <c:numCache>
                <c:formatCode>General</c:formatCode>
                <c:ptCount val="200"/>
                <c:pt idx="0">
                  <c:v>1.4121527671813965</c:v>
                </c:pt>
                <c:pt idx="1">
                  <c:v>1.3194897174835205</c:v>
                </c:pt>
                <c:pt idx="2">
                  <c:v>1.2806522846221924</c:v>
                </c:pt>
                <c:pt idx="3">
                  <c:v>1.4192084074020386</c:v>
                </c:pt>
                <c:pt idx="4">
                  <c:v>1.2832305431365967</c:v>
                </c:pt>
                <c:pt idx="5">
                  <c:v>1.4357311725616455</c:v>
                </c:pt>
                <c:pt idx="6">
                  <c:v>1.3565083742141724</c:v>
                </c:pt>
                <c:pt idx="7">
                  <c:v>1.252800464630127</c:v>
                </c:pt>
                <c:pt idx="8">
                  <c:v>1.5194743871688843</c:v>
                </c:pt>
                <c:pt idx="9">
                  <c:v>1.2733402252197266</c:v>
                </c:pt>
                <c:pt idx="10">
                  <c:v>1.3320759534835815</c:v>
                </c:pt>
                <c:pt idx="11">
                  <c:v>1.2384262084960938</c:v>
                </c:pt>
                <c:pt idx="12">
                  <c:v>1.331701636314392</c:v>
                </c:pt>
                <c:pt idx="13">
                  <c:v>1.3373163938522339</c:v>
                </c:pt>
                <c:pt idx="14">
                  <c:v>1.3059637546539307</c:v>
                </c:pt>
                <c:pt idx="15">
                  <c:v>1.2304404973983765</c:v>
                </c:pt>
                <c:pt idx="16">
                  <c:v>1.2504774332046509</c:v>
                </c:pt>
                <c:pt idx="17">
                  <c:v>1.3071314096450806</c:v>
                </c:pt>
                <c:pt idx="18">
                  <c:v>1.2650794982910156</c:v>
                </c:pt>
                <c:pt idx="19">
                  <c:v>1.3371632099151611</c:v>
                </c:pt>
                <c:pt idx="20">
                  <c:v>1.2505412101745605</c:v>
                </c:pt>
                <c:pt idx="21">
                  <c:v>1.217968463897705</c:v>
                </c:pt>
                <c:pt idx="22">
                  <c:v>1.229660987854004</c:v>
                </c:pt>
                <c:pt idx="23">
                  <c:v>1.2854982614517212</c:v>
                </c:pt>
                <c:pt idx="24">
                  <c:v>1.307376503944397</c:v>
                </c:pt>
                <c:pt idx="25">
                  <c:v>1.2500832080841064</c:v>
                </c:pt>
                <c:pt idx="26">
                  <c:v>1.186734914779663</c:v>
                </c:pt>
                <c:pt idx="27">
                  <c:v>1.2885030508041382</c:v>
                </c:pt>
                <c:pt idx="28">
                  <c:v>1.1829630136489868</c:v>
                </c:pt>
                <c:pt idx="29">
                  <c:v>1.203500747680664</c:v>
                </c:pt>
                <c:pt idx="30">
                  <c:v>1.2791751623153687</c:v>
                </c:pt>
                <c:pt idx="31">
                  <c:v>1.1560218334197998</c:v>
                </c:pt>
                <c:pt idx="32">
                  <c:v>1.2223567962646484</c:v>
                </c:pt>
                <c:pt idx="33">
                  <c:v>1.2153176069259644</c:v>
                </c:pt>
                <c:pt idx="34">
                  <c:v>1.265949010848999</c:v>
                </c:pt>
                <c:pt idx="35">
                  <c:v>1.1965259313583374</c:v>
                </c:pt>
                <c:pt idx="36">
                  <c:v>1.1170250177383423</c:v>
                </c:pt>
                <c:pt idx="37">
                  <c:v>1.2215557098388672</c:v>
                </c:pt>
                <c:pt idx="38">
                  <c:v>1.165437936782837</c:v>
                </c:pt>
                <c:pt idx="39">
                  <c:v>1.1495826244354248</c:v>
                </c:pt>
                <c:pt idx="40">
                  <c:v>1.1819376945495605</c:v>
                </c:pt>
                <c:pt idx="41">
                  <c:v>1.0881881713867188</c:v>
                </c:pt>
                <c:pt idx="42">
                  <c:v>1.1222528219223022</c:v>
                </c:pt>
                <c:pt idx="43">
                  <c:v>1.0755877494812012</c:v>
                </c:pt>
                <c:pt idx="44">
                  <c:v>1.0528324842453003</c:v>
                </c:pt>
                <c:pt idx="45">
                  <c:v>1.1442241668701172</c:v>
                </c:pt>
                <c:pt idx="46">
                  <c:v>1.013492465019226</c:v>
                </c:pt>
                <c:pt idx="47">
                  <c:v>1.0411361455917358</c:v>
                </c:pt>
                <c:pt idx="48">
                  <c:v>1.0412721633911133</c:v>
                </c:pt>
                <c:pt idx="49">
                  <c:v>1.0475513935089111</c:v>
                </c:pt>
                <c:pt idx="50">
                  <c:v>0.9948570728302002</c:v>
                </c:pt>
                <c:pt idx="51">
                  <c:v>1.005023717880249</c:v>
                </c:pt>
                <c:pt idx="52">
                  <c:v>1.0605255365371704</c:v>
                </c:pt>
                <c:pt idx="53">
                  <c:v>0.961317777633667</c:v>
                </c:pt>
                <c:pt idx="54">
                  <c:v>1.0024226903915405</c:v>
                </c:pt>
                <c:pt idx="55">
                  <c:v>1.0241470336914062</c:v>
                </c:pt>
                <c:pt idx="56">
                  <c:v>0.8706899285316467</c:v>
                </c:pt>
                <c:pt idx="57">
                  <c:v>0.9704888463020325</c:v>
                </c:pt>
                <c:pt idx="58">
                  <c:v>0.8054358959197998</c:v>
                </c:pt>
                <c:pt idx="59">
                  <c:v>0.9674917459487915</c:v>
                </c:pt>
                <c:pt idx="60">
                  <c:v>0.7438216805458069</c:v>
                </c:pt>
                <c:pt idx="61">
                  <c:v>0.7216938734054565</c:v>
                </c:pt>
                <c:pt idx="62">
                  <c:v>0.8003250956535339</c:v>
                </c:pt>
                <c:pt idx="63">
                  <c:v>0.8674685955047607</c:v>
                </c:pt>
                <c:pt idx="64">
                  <c:v>0.6158168315887451</c:v>
                </c:pt>
                <c:pt idx="65">
                  <c:v>0.6682757139205933</c:v>
                </c:pt>
                <c:pt idx="66">
                  <c:v>0.7302712202072144</c:v>
                </c:pt>
                <c:pt idx="67">
                  <c:v>0.8801192045211792</c:v>
                </c:pt>
                <c:pt idx="68">
                  <c:v>0.7808986902236938</c:v>
                </c:pt>
                <c:pt idx="69">
                  <c:v>0.6851008534431458</c:v>
                </c:pt>
                <c:pt idx="70">
                  <c:v>0.7181625962257385</c:v>
                </c:pt>
                <c:pt idx="71">
                  <c:v>0.6720817685127258</c:v>
                </c:pt>
                <c:pt idx="72">
                  <c:v>0.6625425219535828</c:v>
                </c:pt>
                <c:pt idx="73">
                  <c:v>0.9026575088500977</c:v>
                </c:pt>
                <c:pt idx="74">
                  <c:v>0.7012521624565125</c:v>
                </c:pt>
                <c:pt idx="75">
                  <c:v>0.576267421245575</c:v>
                </c:pt>
                <c:pt idx="76">
                  <c:v>0.6958467364311218</c:v>
                </c:pt>
                <c:pt idx="77">
                  <c:v>0.6293869018554688</c:v>
                </c:pt>
                <c:pt idx="78">
                  <c:v>0.7244704961776733</c:v>
                </c:pt>
                <c:pt idx="79">
                  <c:v>0.506386935710907</c:v>
                </c:pt>
                <c:pt idx="80">
                  <c:v>0.6705743670463562</c:v>
                </c:pt>
                <c:pt idx="81">
                  <c:v>0.6940733194351196</c:v>
                </c:pt>
                <c:pt idx="82">
                  <c:v>0.5925152897834778</c:v>
                </c:pt>
                <c:pt idx="83">
                  <c:v>0.4370642602443695</c:v>
                </c:pt>
                <c:pt idx="84">
                  <c:v>0.4757087230682373</c:v>
                </c:pt>
                <c:pt idx="85">
                  <c:v>0.7262538075447083</c:v>
                </c:pt>
                <c:pt idx="86">
                  <c:v>0.5676386952400208</c:v>
                </c:pt>
                <c:pt idx="87">
                  <c:v>0.6170207262039185</c:v>
                </c:pt>
                <c:pt idx="88">
                  <c:v>0.5042673945426941</c:v>
                </c:pt>
                <c:pt idx="89">
                  <c:v>0.440173864364624</c:v>
                </c:pt>
                <c:pt idx="90">
                  <c:v>0.42673876881599426</c:v>
                </c:pt>
                <c:pt idx="91">
                  <c:v>0.4895144999027252</c:v>
                </c:pt>
                <c:pt idx="92">
                  <c:v>0.7935603260993958</c:v>
                </c:pt>
                <c:pt idx="93">
                  <c:v>0.5427626371383667</c:v>
                </c:pt>
                <c:pt idx="94">
                  <c:v>0.5551331639289856</c:v>
                </c:pt>
                <c:pt idx="95">
                  <c:v>0.6209218502044678</c:v>
                </c:pt>
                <c:pt idx="96">
                  <c:v>0.5255848169326782</c:v>
                </c:pt>
                <c:pt idx="97">
                  <c:v>0.4417687952518463</c:v>
                </c:pt>
                <c:pt idx="98">
                  <c:v>0.5286199450492859</c:v>
                </c:pt>
                <c:pt idx="99">
                  <c:v>0.6228020787239075</c:v>
                </c:pt>
                <c:pt idx="100">
                  <c:v>0.49651235342025757</c:v>
                </c:pt>
                <c:pt idx="101">
                  <c:v>0.4003590941429138</c:v>
                </c:pt>
                <c:pt idx="102">
                  <c:v>0.4053182303905487</c:v>
                </c:pt>
                <c:pt idx="103">
                  <c:v>0.5210577249526978</c:v>
                </c:pt>
                <c:pt idx="104">
                  <c:v>0.5633171200752258</c:v>
                </c:pt>
                <c:pt idx="105">
                  <c:v>0.45053234696388245</c:v>
                </c:pt>
                <c:pt idx="106">
                  <c:v>0.5492932796478271</c:v>
                </c:pt>
                <c:pt idx="107">
                  <c:v>0.47815656661987305</c:v>
                </c:pt>
                <c:pt idx="108">
                  <c:v>0.5494276285171509</c:v>
                </c:pt>
                <c:pt idx="109">
                  <c:v>0.38743653893470764</c:v>
                </c:pt>
                <c:pt idx="110">
                  <c:v>0.4746885895729065</c:v>
                </c:pt>
                <c:pt idx="111">
                  <c:v>0.6328152418136597</c:v>
                </c:pt>
                <c:pt idx="112">
                  <c:v>0.5429799556732178</c:v>
                </c:pt>
                <c:pt idx="113">
                  <c:v>0.40027686953544617</c:v>
                </c:pt>
                <c:pt idx="114">
                  <c:v>0.5283844470977783</c:v>
                </c:pt>
                <c:pt idx="115">
                  <c:v>0.39793288707733154</c:v>
                </c:pt>
                <c:pt idx="116">
                  <c:v>0.4404173493385315</c:v>
                </c:pt>
                <c:pt idx="117">
                  <c:v>0.5121740102767944</c:v>
                </c:pt>
                <c:pt idx="118">
                  <c:v>0.5731610059738159</c:v>
                </c:pt>
                <c:pt idx="119">
                  <c:v>0.5426590442657471</c:v>
                </c:pt>
                <c:pt idx="120">
                  <c:v>0.5680711269378662</c:v>
                </c:pt>
                <c:pt idx="121">
                  <c:v>0.4569605588912964</c:v>
                </c:pt>
                <c:pt idx="122">
                  <c:v>0.47034817934036255</c:v>
                </c:pt>
                <c:pt idx="123">
                  <c:v>0.41362980008125305</c:v>
                </c:pt>
                <c:pt idx="124">
                  <c:v>0.277024507522583</c:v>
                </c:pt>
                <c:pt idx="125">
                  <c:v>0.4429630637168884</c:v>
                </c:pt>
                <c:pt idx="126">
                  <c:v>0.4789706766605377</c:v>
                </c:pt>
                <c:pt idx="127">
                  <c:v>0.33369913697242737</c:v>
                </c:pt>
                <c:pt idx="128">
                  <c:v>0.4174603819847107</c:v>
                </c:pt>
                <c:pt idx="129">
                  <c:v>0.28486984968185425</c:v>
                </c:pt>
                <c:pt idx="130">
                  <c:v>0.39277058839797974</c:v>
                </c:pt>
                <c:pt idx="131">
                  <c:v>0.3265286386013031</c:v>
                </c:pt>
                <c:pt idx="132">
                  <c:v>0.3989945948123932</c:v>
                </c:pt>
                <c:pt idx="133">
                  <c:v>0.458082914352417</c:v>
                </c:pt>
                <c:pt idx="134">
                  <c:v>0.4210624098777771</c:v>
                </c:pt>
                <c:pt idx="135">
                  <c:v>0.3008286654949188</c:v>
                </c:pt>
                <c:pt idx="136">
                  <c:v>0.3467192053794861</c:v>
                </c:pt>
                <c:pt idx="137">
                  <c:v>0.33319899439811707</c:v>
                </c:pt>
                <c:pt idx="138">
                  <c:v>0.41055262088775635</c:v>
                </c:pt>
                <c:pt idx="139">
                  <c:v>0.4121587574481964</c:v>
                </c:pt>
                <c:pt idx="140">
                  <c:v>0.3992982506752014</c:v>
                </c:pt>
                <c:pt idx="141">
                  <c:v>0.25365209579467773</c:v>
                </c:pt>
                <c:pt idx="142">
                  <c:v>0.5339560508728027</c:v>
                </c:pt>
                <c:pt idx="143">
                  <c:v>0.41845574975013733</c:v>
                </c:pt>
                <c:pt idx="144">
                  <c:v>0.5512003302574158</c:v>
                </c:pt>
                <c:pt idx="145">
                  <c:v>0.6220194697380066</c:v>
                </c:pt>
                <c:pt idx="146">
                  <c:v>0.4980643391609192</c:v>
                </c:pt>
                <c:pt idx="147">
                  <c:v>0.300197035074234</c:v>
                </c:pt>
                <c:pt idx="148">
                  <c:v>0.4010825455188751</c:v>
                </c:pt>
                <c:pt idx="149">
                  <c:v>0.48600900173187256</c:v>
                </c:pt>
                <c:pt idx="150">
                  <c:v>0.5985763072967529</c:v>
                </c:pt>
                <c:pt idx="151">
                  <c:v>0.5420645475387573</c:v>
                </c:pt>
                <c:pt idx="152">
                  <c:v>0.4472673535346985</c:v>
                </c:pt>
                <c:pt idx="153">
                  <c:v>0.37010976672172546</c:v>
                </c:pt>
                <c:pt idx="154">
                  <c:v>0.412883460521698</c:v>
                </c:pt>
                <c:pt idx="155">
                  <c:v>0.5303714275360107</c:v>
                </c:pt>
                <c:pt idx="156">
                  <c:v>0.35756322741508484</c:v>
                </c:pt>
                <c:pt idx="157">
                  <c:v>0.4494258165359497</c:v>
                </c:pt>
                <c:pt idx="158">
                  <c:v>0.2942168414592743</c:v>
                </c:pt>
                <c:pt idx="159">
                  <c:v>0.2428925633430481</c:v>
                </c:pt>
                <c:pt idx="160">
                  <c:v>0.3907972574234009</c:v>
                </c:pt>
                <c:pt idx="161">
                  <c:v>0.361945241689682</c:v>
                </c:pt>
                <c:pt idx="162">
                  <c:v>0.34257858991622925</c:v>
                </c:pt>
                <c:pt idx="163">
                  <c:v>0.3013395667076111</c:v>
                </c:pt>
                <c:pt idx="164">
                  <c:v>0.49613261222839355</c:v>
                </c:pt>
                <c:pt idx="165">
                  <c:v>0.4244040846824646</c:v>
                </c:pt>
                <c:pt idx="166">
                  <c:v>0.28745776414871216</c:v>
                </c:pt>
                <c:pt idx="167">
                  <c:v>0.3840872049331665</c:v>
                </c:pt>
                <c:pt idx="168">
                  <c:v>0.39906132221221924</c:v>
                </c:pt>
                <c:pt idx="169">
                  <c:v>0.3684556782245636</c:v>
                </c:pt>
                <c:pt idx="170">
                  <c:v>0.3180481791496277</c:v>
                </c:pt>
                <c:pt idx="171">
                  <c:v>0.3758540451526642</c:v>
                </c:pt>
                <c:pt idx="172">
                  <c:v>0.37695610523223877</c:v>
                </c:pt>
                <c:pt idx="173">
                  <c:v>0.4208378493785858</c:v>
                </c:pt>
                <c:pt idx="174">
                  <c:v>0.37275946140289307</c:v>
                </c:pt>
                <c:pt idx="175">
                  <c:v>0.32508769631385803</c:v>
                </c:pt>
                <c:pt idx="176">
                  <c:v>0.3423583209514618</c:v>
                </c:pt>
                <c:pt idx="177">
                  <c:v>0.2969907522201538</c:v>
                </c:pt>
                <c:pt idx="178">
                  <c:v>0.40334540605545044</c:v>
                </c:pt>
                <c:pt idx="179">
                  <c:v>0.2761480212211609</c:v>
                </c:pt>
                <c:pt idx="180">
                  <c:v>0.35134920477867126</c:v>
                </c:pt>
                <c:pt idx="181">
                  <c:v>0.3536730706691742</c:v>
                </c:pt>
                <c:pt idx="182">
                  <c:v>0.42120078206062317</c:v>
                </c:pt>
                <c:pt idx="183">
                  <c:v>0.4458978474140167</c:v>
                </c:pt>
                <c:pt idx="184">
                  <c:v>0.33503806591033936</c:v>
                </c:pt>
                <c:pt idx="185">
                  <c:v>0.3541510999202728</c:v>
                </c:pt>
                <c:pt idx="186">
                  <c:v>0.45738643407821655</c:v>
                </c:pt>
                <c:pt idx="187">
                  <c:v>0.4092797338962555</c:v>
                </c:pt>
                <c:pt idx="188">
                  <c:v>0.3843674957752228</c:v>
                </c:pt>
                <c:pt idx="189">
                  <c:v>0.31482622027397156</c:v>
                </c:pt>
                <c:pt idx="190">
                  <c:v>0.3755398988723755</c:v>
                </c:pt>
                <c:pt idx="191">
                  <c:v>0.45984578132629395</c:v>
                </c:pt>
                <c:pt idx="192">
                  <c:v>0.4228910803794861</c:v>
                </c:pt>
                <c:pt idx="193">
                  <c:v>0.32582709193229675</c:v>
                </c:pt>
                <c:pt idx="194">
                  <c:v>0.40240147709846497</c:v>
                </c:pt>
                <c:pt idx="195">
                  <c:v>0.2910860776901245</c:v>
                </c:pt>
                <c:pt idx="196">
                  <c:v>0.39708730578422546</c:v>
                </c:pt>
                <c:pt idx="197">
                  <c:v>0.3256818950176239</c:v>
                </c:pt>
                <c:pt idx="198">
                  <c:v>0.5256005525588989</c:v>
                </c:pt>
                <c:pt idx="199">
                  <c:v>0.549227237701416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bf16 head (ours)</c:v>
                </c:pt>
              </c:strCache>
            </c:strRef>
          </c:tx>
          <c:spPr>
            <a:solidFill>
              <a:srgbClr val="76B900"/>
            </a:solidFill>
            <a:ln w="19050" cap="flat">
              <a:solidFill>
                <a:srgbClr val="76B9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6B900"/>
              </a:solidFill>
              <a:ln w="9525" cap="flat">
                <a:solidFill>
                  <a:srgbClr val="76B9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Sheet1!$A$2:$A$201</c:f>
              <c:multiLvlStrCache>
                <c:ptCount val="2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</c:lvl>
              </c:multiLvlStrCache>
            </c:multiLvlStrRef>
          </c:cat>
          <c:val>
            <c:numRef>
              <c:f>Sheet1!$C$2:$C$201</c:f>
              <c:numCache>
                <c:formatCode>General</c:formatCode>
                <c:ptCount val="200"/>
                <c:pt idx="0">
                  <c:v>1.465155005455017</c:v>
                </c:pt>
                <c:pt idx="1">
                  <c:v>1.527807354927063</c:v>
                </c:pt>
                <c:pt idx="2">
                  <c:v>1.3628437519073486</c:v>
                </c:pt>
                <c:pt idx="3">
                  <c:v>1.5220792293548584</c:v>
                </c:pt>
                <c:pt idx="4">
                  <c:v>1.4716393947601318</c:v>
                </c:pt>
                <c:pt idx="5">
                  <c:v>1.5187989473342896</c:v>
                </c:pt>
                <c:pt idx="6">
                  <c:v>1.4824644327163696</c:v>
                </c:pt>
                <c:pt idx="7">
                  <c:v>1.3255268335342407</c:v>
                </c:pt>
                <c:pt idx="8">
                  <c:v>1.4813257455825806</c:v>
                </c:pt>
                <c:pt idx="9">
                  <c:v>1.4202228784561157</c:v>
                </c:pt>
                <c:pt idx="10">
                  <c:v>1.491762399673462</c:v>
                </c:pt>
                <c:pt idx="11">
                  <c:v>1.399654507637024</c:v>
                </c:pt>
                <c:pt idx="12">
                  <c:v>1.3932831287384033</c:v>
                </c:pt>
                <c:pt idx="13">
                  <c:v>1.463102102279663</c:v>
                </c:pt>
                <c:pt idx="14">
                  <c:v>1.4037917852401733</c:v>
                </c:pt>
                <c:pt idx="15">
                  <c:v>1.3404589891433716</c:v>
                </c:pt>
                <c:pt idx="16">
                  <c:v>1.4142731428146362</c:v>
                </c:pt>
                <c:pt idx="17">
                  <c:v>1.4359033107757568</c:v>
                </c:pt>
                <c:pt idx="18">
                  <c:v>1.345100998878479</c:v>
                </c:pt>
                <c:pt idx="19">
                  <c:v>1.4391796588897705</c:v>
                </c:pt>
                <c:pt idx="20">
                  <c:v>1.3422189950942993</c:v>
                </c:pt>
                <c:pt idx="21">
                  <c:v>1.1635000705718994</c:v>
                </c:pt>
                <c:pt idx="22">
                  <c:v>1.1843440532684326</c:v>
                </c:pt>
                <c:pt idx="23">
                  <c:v>1.2705446481704712</c:v>
                </c:pt>
                <c:pt idx="24">
                  <c:v>1.2976986169815063</c:v>
                </c:pt>
                <c:pt idx="25">
                  <c:v>1.191056728363037</c:v>
                </c:pt>
                <c:pt idx="26">
                  <c:v>1.223349928855896</c:v>
                </c:pt>
                <c:pt idx="27">
                  <c:v>1.2169265747070312</c:v>
                </c:pt>
                <c:pt idx="28">
                  <c:v>1.1450639963150024</c:v>
                </c:pt>
                <c:pt idx="29">
                  <c:v>1.2156018018722534</c:v>
                </c:pt>
                <c:pt idx="30">
                  <c:v>1.304185390472412</c:v>
                </c:pt>
                <c:pt idx="31">
                  <c:v>1.3705390691757202</c:v>
                </c:pt>
                <c:pt idx="32">
                  <c:v>1.3352845907211304</c:v>
                </c:pt>
                <c:pt idx="33">
                  <c:v>1.3373385667800903</c:v>
                </c:pt>
                <c:pt idx="34">
                  <c:v>1.4037827253341675</c:v>
                </c:pt>
                <c:pt idx="35">
                  <c:v>1.38241708278656</c:v>
                </c:pt>
                <c:pt idx="36">
                  <c:v>1.1816176176071167</c:v>
                </c:pt>
                <c:pt idx="37">
                  <c:v>1.2873611450195312</c:v>
                </c:pt>
                <c:pt idx="38">
                  <c:v>1.23562753200531</c:v>
                </c:pt>
                <c:pt idx="39">
                  <c:v>1.2019615173339844</c:v>
                </c:pt>
                <c:pt idx="40">
                  <c:v>1.219366431236267</c:v>
                </c:pt>
                <c:pt idx="41">
                  <c:v>1.074249267578125</c:v>
                </c:pt>
                <c:pt idx="42">
                  <c:v>1.1439054012298584</c:v>
                </c:pt>
                <c:pt idx="43">
                  <c:v>1.0747532844543457</c:v>
                </c:pt>
                <c:pt idx="44">
                  <c:v>1.1052860021591187</c:v>
                </c:pt>
                <c:pt idx="45">
                  <c:v>1.1588023900985718</c:v>
                </c:pt>
                <c:pt idx="46">
                  <c:v>1.0616199970245361</c:v>
                </c:pt>
                <c:pt idx="47">
                  <c:v>1.0234163999557495</c:v>
                </c:pt>
                <c:pt idx="48">
                  <c:v>1.08656907081604</c:v>
                </c:pt>
                <c:pt idx="49">
                  <c:v>1.1343998908996582</c:v>
                </c:pt>
                <c:pt idx="50">
                  <c:v>1.0879141092300415</c:v>
                </c:pt>
                <c:pt idx="51">
                  <c:v>1.056355357170105</c:v>
                </c:pt>
                <c:pt idx="52">
                  <c:v>1.0624960660934448</c:v>
                </c:pt>
                <c:pt idx="53">
                  <c:v>0.99652099609375</c:v>
                </c:pt>
                <c:pt idx="54">
                  <c:v>1.0177422761917114</c:v>
                </c:pt>
                <c:pt idx="55">
                  <c:v>1.08455228805542</c:v>
                </c:pt>
                <c:pt idx="56">
                  <c:v>0.8973181843757629</c:v>
                </c:pt>
                <c:pt idx="57">
                  <c:v>1.0486016273498535</c:v>
                </c:pt>
                <c:pt idx="58">
                  <c:v>0.8536514043807983</c:v>
                </c:pt>
                <c:pt idx="59">
                  <c:v>0.9738008379936218</c:v>
                </c:pt>
                <c:pt idx="60">
                  <c:v>0.7710896134376526</c:v>
                </c:pt>
                <c:pt idx="61">
                  <c:v>0.754205048084259</c:v>
                </c:pt>
                <c:pt idx="62">
                  <c:v>0.8546945452690125</c:v>
                </c:pt>
                <c:pt idx="63">
                  <c:v>0.9045367240905762</c:v>
                </c:pt>
                <c:pt idx="64">
                  <c:v>0.680715024471283</c:v>
                </c:pt>
                <c:pt idx="65">
                  <c:v>0.7250732183456421</c:v>
                </c:pt>
                <c:pt idx="66">
                  <c:v>0.7675344347953796</c:v>
                </c:pt>
                <c:pt idx="67">
                  <c:v>0.8586694002151489</c:v>
                </c:pt>
                <c:pt idx="68">
                  <c:v>0.8278751969337463</c:v>
                </c:pt>
                <c:pt idx="69">
                  <c:v>0.7105873823165894</c:v>
                </c:pt>
                <c:pt idx="70">
                  <c:v>0.7219622731208801</c:v>
                </c:pt>
                <c:pt idx="71">
                  <c:v>0.7096927165985107</c:v>
                </c:pt>
                <c:pt idx="72">
                  <c:v>0.7293614149093628</c:v>
                </c:pt>
                <c:pt idx="73">
                  <c:v>0.8888590931892395</c:v>
                </c:pt>
                <c:pt idx="74">
                  <c:v>0.7104019522666931</c:v>
                </c:pt>
                <c:pt idx="75">
                  <c:v>0.596458375453949</c:v>
                </c:pt>
                <c:pt idx="76">
                  <c:v>0.682534396648407</c:v>
                </c:pt>
                <c:pt idx="77">
                  <c:v>0.6755549907684326</c:v>
                </c:pt>
                <c:pt idx="78">
                  <c:v>0.7193437814712524</c:v>
                </c:pt>
                <c:pt idx="79">
                  <c:v>0.4839799404144287</c:v>
                </c:pt>
                <c:pt idx="80">
                  <c:v>0.6186338663101196</c:v>
                </c:pt>
                <c:pt idx="81">
                  <c:v>0.7172577977180481</c:v>
                </c:pt>
                <c:pt idx="82">
                  <c:v>0.5846574902534485</c:v>
                </c:pt>
                <c:pt idx="83">
                  <c:v>0.4026309549808502</c:v>
                </c:pt>
                <c:pt idx="84">
                  <c:v>0.5094608664512634</c:v>
                </c:pt>
                <c:pt idx="85">
                  <c:v>0.7257950901985168</c:v>
                </c:pt>
                <c:pt idx="86">
                  <c:v>0.6342362761497498</c:v>
                </c:pt>
                <c:pt idx="87">
                  <c:v>0.619391143321991</c:v>
                </c:pt>
                <c:pt idx="88">
                  <c:v>0.5479902029037476</c:v>
                </c:pt>
                <c:pt idx="89">
                  <c:v>0.4767726957798004</c:v>
                </c:pt>
                <c:pt idx="90">
                  <c:v>0.4450841248035431</c:v>
                </c:pt>
                <c:pt idx="91">
                  <c:v>0.4809007942676544</c:v>
                </c:pt>
                <c:pt idx="92">
                  <c:v>0.7850342392921448</c:v>
                </c:pt>
                <c:pt idx="93">
                  <c:v>0.5081256628036499</c:v>
                </c:pt>
                <c:pt idx="94">
                  <c:v>0.5720846056938171</c:v>
                </c:pt>
                <c:pt idx="95">
                  <c:v>0.6291945576667786</c:v>
                </c:pt>
                <c:pt idx="96">
                  <c:v>0.520616888999939</c:v>
                </c:pt>
                <c:pt idx="97">
                  <c:v>0.4715297520160675</c:v>
                </c:pt>
                <c:pt idx="98">
                  <c:v>0.5869253873825073</c:v>
                </c:pt>
                <c:pt idx="99">
                  <c:v>0.6197689771652222</c:v>
                </c:pt>
                <c:pt idx="100">
                  <c:v>0.4962628483772278</c:v>
                </c:pt>
                <c:pt idx="101">
                  <c:v>0.41832593083381653</c:v>
                </c:pt>
                <c:pt idx="102">
                  <c:v>0.42151695489883423</c:v>
                </c:pt>
                <c:pt idx="103">
                  <c:v>0.5117307305335999</c:v>
                </c:pt>
                <c:pt idx="104">
                  <c:v>0.6144604086875916</c:v>
                </c:pt>
                <c:pt idx="105">
                  <c:v>0.4910159409046173</c:v>
                </c:pt>
                <c:pt idx="106">
                  <c:v>0.5178858041763306</c:v>
                </c:pt>
                <c:pt idx="107">
                  <c:v>0.49383240938186646</c:v>
                </c:pt>
                <c:pt idx="108">
                  <c:v>0.5756239891052246</c:v>
                </c:pt>
                <c:pt idx="109">
                  <c:v>0.38393256068229675</c:v>
                </c:pt>
                <c:pt idx="110">
                  <c:v>0.46590739488601685</c:v>
                </c:pt>
                <c:pt idx="111">
                  <c:v>0.6281192302703857</c:v>
                </c:pt>
                <c:pt idx="112">
                  <c:v>0.5689648389816284</c:v>
                </c:pt>
                <c:pt idx="113">
                  <c:v>0.42764970660209656</c:v>
                </c:pt>
                <c:pt idx="114">
                  <c:v>0.5116689801216125</c:v>
                </c:pt>
                <c:pt idx="115">
                  <c:v>0.4103582501411438</c:v>
                </c:pt>
                <c:pt idx="116">
                  <c:v>0.4663859009742737</c:v>
                </c:pt>
                <c:pt idx="117">
                  <c:v>0.509663999080658</c:v>
                </c:pt>
                <c:pt idx="118">
                  <c:v>0.5823853015899658</c:v>
                </c:pt>
                <c:pt idx="119">
                  <c:v>0.5869860649108887</c:v>
                </c:pt>
                <c:pt idx="120">
                  <c:v>0.5985053181648254</c:v>
                </c:pt>
                <c:pt idx="121">
                  <c:v>0.5091955661773682</c:v>
                </c:pt>
                <c:pt idx="122">
                  <c:v>0.5158333778381348</c:v>
                </c:pt>
                <c:pt idx="123">
                  <c:v>0.5115501284599304</c:v>
                </c:pt>
                <c:pt idx="124">
                  <c:v>0.3136970102787018</c:v>
                </c:pt>
                <c:pt idx="125">
                  <c:v>0.472554475069046</c:v>
                </c:pt>
                <c:pt idx="126">
                  <c:v>0.531713604927063</c:v>
                </c:pt>
                <c:pt idx="127">
                  <c:v>0.38213256001472473</c:v>
                </c:pt>
                <c:pt idx="128">
                  <c:v>0.4093846082687378</c:v>
                </c:pt>
                <c:pt idx="129">
                  <c:v>0.34901130199432373</c:v>
                </c:pt>
                <c:pt idx="130">
                  <c:v>0.40694695711135864</c:v>
                </c:pt>
                <c:pt idx="131">
                  <c:v>0.35102954506874084</c:v>
                </c:pt>
                <c:pt idx="132">
                  <c:v>0.41812950372695923</c:v>
                </c:pt>
                <c:pt idx="133">
                  <c:v>0.48658615350723267</c:v>
                </c:pt>
                <c:pt idx="134">
                  <c:v>0.43211960792541504</c:v>
                </c:pt>
                <c:pt idx="135">
                  <c:v>0.37473809719085693</c:v>
                </c:pt>
                <c:pt idx="136">
                  <c:v>0.33452707529067993</c:v>
                </c:pt>
                <c:pt idx="137">
                  <c:v>0.3288687765598297</c:v>
                </c:pt>
                <c:pt idx="138">
                  <c:v>0.4246358275413513</c:v>
                </c:pt>
                <c:pt idx="139">
                  <c:v>0.3815311789512634</c:v>
                </c:pt>
                <c:pt idx="140">
                  <c:v>0.4051056206226349</c:v>
                </c:pt>
                <c:pt idx="141">
                  <c:v>0.31288713216781616</c:v>
                </c:pt>
                <c:pt idx="142">
                  <c:v>0.5543596744537354</c:v>
                </c:pt>
                <c:pt idx="143">
                  <c:v>0.45895567536354065</c:v>
                </c:pt>
                <c:pt idx="144">
                  <c:v>0.5271095037460327</c:v>
                </c:pt>
                <c:pt idx="145">
                  <c:v>0.5404824018478394</c:v>
                </c:pt>
                <c:pt idx="146">
                  <c:v>0.5058889389038086</c:v>
                </c:pt>
                <c:pt idx="147">
                  <c:v>0.3063453435897827</c:v>
                </c:pt>
                <c:pt idx="148">
                  <c:v>0.4148329198360443</c:v>
                </c:pt>
                <c:pt idx="149">
                  <c:v>0.45329463481903076</c:v>
                </c:pt>
                <c:pt idx="150">
                  <c:v>0.6577685475349426</c:v>
                </c:pt>
                <c:pt idx="151">
                  <c:v>0.533800482749939</c:v>
                </c:pt>
                <c:pt idx="152">
                  <c:v>0.4096551239490509</c:v>
                </c:pt>
                <c:pt idx="153">
                  <c:v>0.3777805268764496</c:v>
                </c:pt>
                <c:pt idx="154">
                  <c:v>0.41307809948921204</c:v>
                </c:pt>
                <c:pt idx="155">
                  <c:v>0.5235664248466492</c:v>
                </c:pt>
                <c:pt idx="156">
                  <c:v>0.3221065104007721</c:v>
                </c:pt>
                <c:pt idx="157">
                  <c:v>0.3986315131187439</c:v>
                </c:pt>
                <c:pt idx="158">
                  <c:v>0.30904680490493774</c:v>
                </c:pt>
                <c:pt idx="159">
                  <c:v>0.2613060474395752</c:v>
                </c:pt>
                <c:pt idx="160">
                  <c:v>0.3940429985523224</c:v>
                </c:pt>
                <c:pt idx="161">
                  <c:v>0.3984295427799225</c:v>
                </c:pt>
                <c:pt idx="162">
                  <c:v>0.344331830739975</c:v>
                </c:pt>
                <c:pt idx="163">
                  <c:v>0.304464727640152</c:v>
                </c:pt>
                <c:pt idx="164">
                  <c:v>0.4461105763912201</c:v>
                </c:pt>
                <c:pt idx="165">
                  <c:v>0.4146499037742615</c:v>
                </c:pt>
                <c:pt idx="166">
                  <c:v>0.316840797662735</c:v>
                </c:pt>
                <c:pt idx="167">
                  <c:v>0.398360937833786</c:v>
                </c:pt>
                <c:pt idx="168">
                  <c:v>0.3579205274581909</c:v>
                </c:pt>
                <c:pt idx="169">
                  <c:v>0.3704286515712738</c:v>
                </c:pt>
                <c:pt idx="170">
                  <c:v>0.3166147768497467</c:v>
                </c:pt>
                <c:pt idx="171">
                  <c:v>0.3747732937335968</c:v>
                </c:pt>
                <c:pt idx="172">
                  <c:v>0.34969809651374817</c:v>
                </c:pt>
                <c:pt idx="173">
                  <c:v>0.4294351637363434</c:v>
                </c:pt>
                <c:pt idx="174">
                  <c:v>0.38716256618499756</c:v>
                </c:pt>
                <c:pt idx="175">
                  <c:v>0.3348636031150818</c:v>
                </c:pt>
                <c:pt idx="176">
                  <c:v>0.3218022882938385</c:v>
                </c:pt>
                <c:pt idx="177">
                  <c:v>0.3057154715061188</c:v>
                </c:pt>
                <c:pt idx="178">
                  <c:v>0.41044870018959045</c:v>
                </c:pt>
                <c:pt idx="179">
                  <c:v>0.2848285436630249</c:v>
                </c:pt>
                <c:pt idx="180">
                  <c:v>0.3626764416694641</c:v>
                </c:pt>
                <c:pt idx="181">
                  <c:v>0.38770726323127747</c:v>
                </c:pt>
                <c:pt idx="182">
                  <c:v>0.39427539706230164</c:v>
                </c:pt>
                <c:pt idx="183">
                  <c:v>0.4490029811859131</c:v>
                </c:pt>
                <c:pt idx="184">
                  <c:v>0.3346365988254547</c:v>
                </c:pt>
                <c:pt idx="185">
                  <c:v>0.3602866530418396</c:v>
                </c:pt>
                <c:pt idx="186">
                  <c:v>0.40346115827560425</c:v>
                </c:pt>
                <c:pt idx="187">
                  <c:v>0.37242522835731506</c:v>
                </c:pt>
                <c:pt idx="188">
                  <c:v>0.3671019971370697</c:v>
                </c:pt>
                <c:pt idx="189">
                  <c:v>0.31144633889198303</c:v>
                </c:pt>
                <c:pt idx="190">
                  <c:v>0.37649238109588623</c:v>
                </c:pt>
                <c:pt idx="191">
                  <c:v>0.4047149419784546</c:v>
                </c:pt>
                <c:pt idx="192">
                  <c:v>0.4507423937320709</c:v>
                </c:pt>
                <c:pt idx="193">
                  <c:v>0.35981786251068115</c:v>
                </c:pt>
                <c:pt idx="194">
                  <c:v>0.39086049795150757</c:v>
                </c:pt>
                <c:pt idx="195">
                  <c:v>0.2534463405609131</c:v>
                </c:pt>
                <c:pt idx="196">
                  <c:v>0.43365147709846497</c:v>
                </c:pt>
                <c:pt idx="197">
                  <c:v>0.38471686840057373</c:v>
                </c:pt>
                <c:pt idx="198">
                  <c:v>0.47391095757484436</c:v>
                </c:pt>
                <c:pt idx="199">
                  <c:v>0.5325895547866821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A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5E5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00000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All numbers in this deck are same-node A/B measurements on 8×H200 (NVLink), nsys-verified.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slide: 3.2x step time, 3.2x throughput at same batch; batch scaling adds another 32%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decoder = full attention + gated-delta-net (linear attention) layers — this matters later: GDN blocks whole-model torch.compile.
Action expert consumes VLM hidden states layer-wise (layerwise DiT).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Timeline from the NVTX-instrumented baseline re-capture (qwenpi_baseline_nvtx, viking-prod-303, train_step_33, 807 ms, bs 8/GPU). Both strips use the GPU-execution clock: kernels attributed to phases/modules by their CPU launch window (correlationId join).
CPU-side forward() returns at 225 ms - the GPU is still executing DiT forward kernels until 309 ms (eager launch-ahead). That is why phases here are defined on GPU execution, not CPU ranges.
Qwen3.5 bwd:fwd busy = 123:50 = 2.46x, matching theory (GEMM exactly 1.94x). The SPAN ratio is only 1.18x because forward is launch-starved: occupancy 34% vs 70% in backward (Python-side launches vs C++ autograd).
Module bands = GPU execution spans, attributed by launch-window correlation (kernels joined to their CPU launch time via correlationId). GPU busy inside the bands: Qwen3.5 fwd 50 ms, DiT fwd 120 ms, DiT bwd 224 ms, Qwen3.5 bwd 123 ms - DiT owns 43% of all GPU busy time.
Rows 2+3 land as one ladder level (pipeline &amp; caching, -117 ms); row 5 combines bucket sizing (PR11) and the redundant-flatten removal (PR12); row 6 covers the two config-level fixes.
[IMPORTANT] Key message: every fix in this deck was first SEEN here as a trace shape or a measured kernel cost - problems first, solutions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bar is a separate 60-step run at that cumulative level; bars show ACTUAL step time, not deltas. The next slides walk these levels.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Kernel classes measured on the instrumented baseline capture (qwenpi_baseline_nvtx).
Loss curves: 200-step same-seed A/B (qwenpi_opt1_fp32_200 vs qwenpi_opt1_bf16_200). Task-level accuracy is validated customer-side; loss trajectory is our correctness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sync points are CPU work serialized inside forward: data parsing at the top, ViT rotary/positional embedding, and MRoPE position ids between ViT and decoder.
Stall sizes from the instrumented baseline; the timeline is a schematic, proportions follow the trace.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Idle quantification from the instrumented baseline: 205 ms/step total idle - ~40 ms preprocessing gap at step start, plus sync stalls and launch gaps.
Schematic is illustrative; proportions follow the measured trace (preprocess ~40 ms of a 807 ms step at baseline, fully hidden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Baseline: qwenpi_baseline_nvtx train_step_33; optimized: milestone1 train_step_48. Launch-window attribution both sides.
[IMPORTANT] This page motivates graphs with the customer's own trace numbers; the next page is the design and the 4-vs-1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Graph capture preserves exact hidden-state semantics - verified fullgraph fwd+bwd and unchanged loss trajectory.
If pressed on details: a whole-stack compile also fails outright here (fla graph-breaks fragment it into cudagraph partitions sharing one memory pool, whose allocator checkpointing collides with ZeRO-2 hook NCCL allocations - crash on torch 2.6 and 2.7.1). Keep it at 'engineering constraints' unless the audience digs.
Group size 8 = measured sweet spot; 4 replays vs 1 costs microseconds.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 source (DeepSpeed 0.16.9 stage_1_and_2.py): TWO ipg buffers when overlap_comm (L2055); average_tensor enqueues compute.wait_stream(reduction_stream) at every bucket boundary (L1061-1062) - pipeline depth is one in-flight reduction.
A/B re-captured on viking-prod-303 with node-level graph trace: 5e8 = 261 ms/step (std 4.2), 1.5e9 = 249 ms (std 3.9); AR busy equal within 1 ms (same bytes). Original-branch sweep: 2e9 was +4.7 ms; variance collapse +-17.7 -&gt; +-3.4 recorded there.
Final ledger (moved off-slide): baseline 807 = 540 busy + 62 exposed + 205 idle; optimized 249 = 175 + 22 + 43.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Recommendation: bs 24 is the throughput config, gated on customer-side convergence validation (lr recalibration).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credibility anchor: what we did NOT ship is as evidence-based as what we did.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AllGather card: optimizer math itself (~26 ms busy) has a separate compiled-autograd / fused-optimizer lever; the 44 ms AllGather is the structural ZeRO-2 limit.
Everything shipped is one MR per optimization with measured before/after — the repo history is the reproducibility story.
[IMPORTANT] Close: 3.2x is banked; the roadmap above is how we keep going.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" name="Image 0" descr="/app/logos/nvidia-logo-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02920"/>
            <a:ext cx="1828800" cy="6309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VLA Training Optimization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3108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NVIDIA DevTech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Results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starVLA QwenPI: Qwen3.5-VL 4B + flow-matching action head, ZeRO-2 full fine-tune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21208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21208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3.2×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30936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training step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249 ms/step (bs 8)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96896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96896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Text 9"/>
          <p:cNvSpPr/>
          <p:nvPr/>
        </p:nvSpPr>
        <p:spPr>
          <a:xfrm>
            <a:off x="2596896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257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706624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06624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80 at hand-off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72584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72584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672584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23.1%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782312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FLOPs utilization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82312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7.2% (bf16 peak)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48272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48272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Text 19"/>
          <p:cNvSpPr/>
          <p:nvPr/>
        </p:nvSpPr>
        <p:spPr>
          <a:xfrm>
            <a:off x="6748272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340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858000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0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 bs 24 — 1.7× the 200 target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Method: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every optimization was profiled with Nsight Systems and validated with a same-node A/B run plus loss-trajectory checks — no stacked guesses, measured deltas only.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41605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Measurement: 8×H200 (NVLink), 60 steps, steady-state p50 of steps 21–44, per-GPU batch 8 unless noted.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&amp; Workload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7.5B trainable parameters: Qwen3.5-VL 4B backbone + 3B flow-matching action expert</a:t>
            </a:r>
            <a:endParaRPr lang="en-US" sz="1500" dirty="0"/>
          </a:p>
        </p:txBody>
      </p:sp>
      <p:pic>
        <p:nvPicPr>
          <p:cNvPr id="4" name="Image 0" descr="/work/tikz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3582313" cy="3017520"/>
          </a:xfrm>
          <a:prstGeom prst="rect">
            <a:avLst/>
          </a:prstGeom>
        </p:spPr>
      </p:pic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280160"/>
          <a:ext cx="3794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6032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Training configuration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Parameters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7.52B, all trainable (bf16)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Parallelism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ZeRO-2, DP=8, 1 node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ZeRO-2 tuning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1.5e9, reduce_scatter off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Optimizer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AdamW, fp32 master (sharded)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Batch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 / GPU → 64 global (up to 24/GPU)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Sequence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text fixed at 192 (left-pad)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Data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LIBERO manipulation, 2 views/sample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Hardware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8×H200 SXM, full NVLink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Software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torch 2.7.1 / NCCL 2.26.2 / HF 5.3 / FA2.8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 Diagnosis: Where Did 800 ms Go?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on the GPU-execution clock (807 ms, bs 8/GPU) — five problems, five fixes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508760" y="1261872"/>
            <a:ext cx="2346877" cy="237744"/>
          </a:xfrm>
          <a:prstGeom prst="rect">
            <a:avLst/>
          </a:prstGeom>
          <a:solidFill>
            <a:srgbClr val="5D1682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261872"/>
            <a:ext cx="23468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Forward 309 ms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55637" y="1261872"/>
            <a:ext cx="3102342" cy="23774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7" name="Text 5"/>
          <p:cNvSpPr/>
          <p:nvPr/>
        </p:nvSpPr>
        <p:spPr>
          <a:xfrm>
            <a:off x="3855637" y="1261872"/>
            <a:ext cx="31023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409 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957979" y="1261872"/>
            <a:ext cx="677261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9" name="Text 7"/>
          <p:cNvSpPr/>
          <p:nvPr/>
        </p:nvSpPr>
        <p:spPr>
          <a:xfrm>
            <a:off x="6957979" y="1261872"/>
            <a:ext cx="6772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+ AG 89 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6187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phase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2" name="Text 10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prep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4" name="Text 12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148 ms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125 ms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234 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" name="Text 18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175 ms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Text 20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 · AG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7200" y="153619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module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1810512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SM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508760" y="1810512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918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8319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834179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842683" y="1837944"/>
            <a:ext cx="2665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869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8719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1877078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1883076" y="1837944"/>
            <a:ext cx="683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1891807" y="1837944"/>
            <a:ext cx="129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Shape 33"/>
          <p:cNvSpPr/>
          <p:nvPr/>
        </p:nvSpPr>
        <p:spPr>
          <a:xfrm>
            <a:off x="190661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6" name="Shape 34"/>
          <p:cNvSpPr/>
          <p:nvPr/>
        </p:nvSpPr>
        <p:spPr>
          <a:xfrm>
            <a:off x="1920583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Shape 35"/>
          <p:cNvSpPr/>
          <p:nvPr/>
        </p:nvSpPr>
        <p:spPr>
          <a:xfrm>
            <a:off x="1934630" y="1837944"/>
            <a:ext cx="124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1948752" y="1837944"/>
            <a:ext cx="50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9" name="Shape 37"/>
          <p:cNvSpPr/>
          <p:nvPr/>
        </p:nvSpPr>
        <p:spPr>
          <a:xfrm>
            <a:off x="1954522" y="1837944"/>
            <a:ext cx="69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Shape 38"/>
          <p:cNvSpPr/>
          <p:nvPr/>
        </p:nvSpPr>
        <p:spPr>
          <a:xfrm>
            <a:off x="1963406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1" name="Shape 39"/>
          <p:cNvSpPr/>
          <p:nvPr/>
        </p:nvSpPr>
        <p:spPr>
          <a:xfrm>
            <a:off x="1977224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2" name="Shape 40"/>
          <p:cNvSpPr/>
          <p:nvPr/>
        </p:nvSpPr>
        <p:spPr>
          <a:xfrm>
            <a:off x="199104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2005013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Shape 42"/>
          <p:cNvSpPr/>
          <p:nvPr/>
        </p:nvSpPr>
        <p:spPr>
          <a:xfrm>
            <a:off x="2019515" y="1837944"/>
            <a:ext cx="115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" name="Shape 43"/>
          <p:cNvSpPr/>
          <p:nvPr/>
        </p:nvSpPr>
        <p:spPr>
          <a:xfrm>
            <a:off x="2032650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6" name="Shape 44"/>
          <p:cNvSpPr/>
          <p:nvPr/>
        </p:nvSpPr>
        <p:spPr>
          <a:xfrm>
            <a:off x="2045937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7" name="Shape 45"/>
          <p:cNvSpPr/>
          <p:nvPr/>
        </p:nvSpPr>
        <p:spPr>
          <a:xfrm>
            <a:off x="2059224" y="1837944"/>
            <a:ext cx="123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8" name="Shape 46"/>
          <p:cNvSpPr/>
          <p:nvPr/>
        </p:nvSpPr>
        <p:spPr>
          <a:xfrm>
            <a:off x="2073271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9" name="Shape 47"/>
          <p:cNvSpPr/>
          <p:nvPr/>
        </p:nvSpPr>
        <p:spPr>
          <a:xfrm>
            <a:off x="2086786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2100680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1" name="Shape 49"/>
          <p:cNvSpPr/>
          <p:nvPr/>
        </p:nvSpPr>
        <p:spPr>
          <a:xfrm>
            <a:off x="2114271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2" name="Shape 50"/>
          <p:cNvSpPr/>
          <p:nvPr/>
        </p:nvSpPr>
        <p:spPr>
          <a:xfrm>
            <a:off x="2127862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3" name="Shape 51"/>
          <p:cNvSpPr/>
          <p:nvPr/>
        </p:nvSpPr>
        <p:spPr>
          <a:xfrm>
            <a:off x="2141453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4" name="Shape 52"/>
          <p:cNvSpPr/>
          <p:nvPr/>
        </p:nvSpPr>
        <p:spPr>
          <a:xfrm>
            <a:off x="2154967" y="1837944"/>
            <a:ext cx="116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5" name="Shape 53"/>
          <p:cNvSpPr/>
          <p:nvPr/>
        </p:nvSpPr>
        <p:spPr>
          <a:xfrm>
            <a:off x="2168406" y="1837944"/>
            <a:ext cx="117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6" name="Shape 54"/>
          <p:cNvSpPr/>
          <p:nvPr/>
        </p:nvSpPr>
        <p:spPr>
          <a:xfrm>
            <a:off x="2185414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7" name="Shape 55"/>
          <p:cNvSpPr/>
          <p:nvPr/>
        </p:nvSpPr>
        <p:spPr>
          <a:xfrm>
            <a:off x="2191260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8" name="Shape 56"/>
          <p:cNvSpPr/>
          <p:nvPr/>
        </p:nvSpPr>
        <p:spPr>
          <a:xfrm>
            <a:off x="2199612" y="1837944"/>
            <a:ext cx="493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9" name="Shape 57"/>
          <p:cNvSpPr/>
          <p:nvPr/>
        </p:nvSpPr>
        <p:spPr>
          <a:xfrm>
            <a:off x="2205230" y="1837944"/>
            <a:ext cx="53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0" name="Shape 58"/>
          <p:cNvSpPr/>
          <p:nvPr/>
        </p:nvSpPr>
        <p:spPr>
          <a:xfrm>
            <a:off x="2211608" y="1837944"/>
            <a:ext cx="59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1" name="Shape 59"/>
          <p:cNvSpPr/>
          <p:nvPr/>
        </p:nvSpPr>
        <p:spPr>
          <a:xfrm>
            <a:off x="2219049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2" name="Shape 60"/>
          <p:cNvSpPr/>
          <p:nvPr/>
        </p:nvSpPr>
        <p:spPr>
          <a:xfrm>
            <a:off x="2236740" y="1837944"/>
            <a:ext cx="258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3" name="Shape 61"/>
          <p:cNvSpPr/>
          <p:nvPr/>
        </p:nvSpPr>
        <p:spPr>
          <a:xfrm>
            <a:off x="2263162" y="1837944"/>
            <a:ext cx="194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4" name="Shape 62"/>
          <p:cNvSpPr/>
          <p:nvPr/>
        </p:nvSpPr>
        <p:spPr>
          <a:xfrm>
            <a:off x="2285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5" name="Shape 63"/>
          <p:cNvSpPr/>
          <p:nvPr/>
        </p:nvSpPr>
        <p:spPr>
          <a:xfrm>
            <a:off x="229072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6" name="Shape 64"/>
          <p:cNvSpPr/>
          <p:nvPr/>
        </p:nvSpPr>
        <p:spPr>
          <a:xfrm>
            <a:off x="229360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7" name="Shape 65"/>
          <p:cNvSpPr/>
          <p:nvPr/>
        </p:nvSpPr>
        <p:spPr>
          <a:xfrm>
            <a:off x="2296342" y="1837944"/>
            <a:ext cx="546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8" name="Shape 66"/>
          <p:cNvSpPr/>
          <p:nvPr/>
        </p:nvSpPr>
        <p:spPr>
          <a:xfrm>
            <a:off x="230583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9" name="Shape 67"/>
          <p:cNvSpPr/>
          <p:nvPr/>
        </p:nvSpPr>
        <p:spPr>
          <a:xfrm>
            <a:off x="2308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0" name="Shape 68"/>
          <p:cNvSpPr/>
          <p:nvPr/>
        </p:nvSpPr>
        <p:spPr>
          <a:xfrm>
            <a:off x="23122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314944" y="1837944"/>
            <a:ext cx="86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2326940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23292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233263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2335368" y="1837944"/>
            <a:ext cx="584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234182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234652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2349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352831" y="1837944"/>
            <a:ext cx="2604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0" name="Shape 78"/>
          <p:cNvSpPr/>
          <p:nvPr/>
        </p:nvSpPr>
        <p:spPr>
          <a:xfrm>
            <a:off x="238145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1" name="Shape 79"/>
          <p:cNvSpPr/>
          <p:nvPr/>
        </p:nvSpPr>
        <p:spPr>
          <a:xfrm>
            <a:off x="238768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2" name="Shape 80"/>
          <p:cNvSpPr/>
          <p:nvPr/>
        </p:nvSpPr>
        <p:spPr>
          <a:xfrm>
            <a:off x="2390338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3" name="Shape 81"/>
          <p:cNvSpPr/>
          <p:nvPr/>
        </p:nvSpPr>
        <p:spPr>
          <a:xfrm>
            <a:off x="240104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4" name="Shape 82"/>
          <p:cNvSpPr/>
          <p:nvPr/>
        </p:nvSpPr>
        <p:spPr>
          <a:xfrm>
            <a:off x="24071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5" name="Shape 83"/>
          <p:cNvSpPr/>
          <p:nvPr/>
        </p:nvSpPr>
        <p:spPr>
          <a:xfrm>
            <a:off x="2409851" y="1837944"/>
            <a:ext cx="85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6" name="Shape 84"/>
          <p:cNvSpPr/>
          <p:nvPr/>
        </p:nvSpPr>
        <p:spPr>
          <a:xfrm>
            <a:off x="242070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7" name="Shape 85"/>
          <p:cNvSpPr/>
          <p:nvPr/>
        </p:nvSpPr>
        <p:spPr>
          <a:xfrm>
            <a:off x="2426935" y="1837944"/>
            <a:ext cx="2535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8" name="Shape 86"/>
          <p:cNvSpPr/>
          <p:nvPr/>
        </p:nvSpPr>
        <p:spPr>
          <a:xfrm>
            <a:off x="245540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9" name="Shape 87"/>
          <p:cNvSpPr/>
          <p:nvPr/>
        </p:nvSpPr>
        <p:spPr>
          <a:xfrm>
            <a:off x="245776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0" name="Shape 88"/>
          <p:cNvSpPr/>
          <p:nvPr/>
        </p:nvSpPr>
        <p:spPr>
          <a:xfrm>
            <a:off x="246178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1" name="Shape 89"/>
          <p:cNvSpPr/>
          <p:nvPr/>
        </p:nvSpPr>
        <p:spPr>
          <a:xfrm>
            <a:off x="2464898" y="1837944"/>
            <a:ext cx="842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2" name="Shape 90"/>
          <p:cNvSpPr/>
          <p:nvPr/>
        </p:nvSpPr>
        <p:spPr>
          <a:xfrm>
            <a:off x="24756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3" name="Shape 91"/>
          <p:cNvSpPr/>
          <p:nvPr/>
        </p:nvSpPr>
        <p:spPr>
          <a:xfrm>
            <a:off x="248182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4" name="Shape 92"/>
          <p:cNvSpPr/>
          <p:nvPr/>
        </p:nvSpPr>
        <p:spPr>
          <a:xfrm>
            <a:off x="249511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5" name="Shape 93"/>
          <p:cNvSpPr/>
          <p:nvPr/>
        </p:nvSpPr>
        <p:spPr>
          <a:xfrm>
            <a:off x="24980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6" name="Shape 94"/>
          <p:cNvSpPr/>
          <p:nvPr/>
        </p:nvSpPr>
        <p:spPr>
          <a:xfrm>
            <a:off x="2501646" y="1837944"/>
            <a:ext cx="264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7" name="Shape 95"/>
          <p:cNvSpPr/>
          <p:nvPr/>
        </p:nvSpPr>
        <p:spPr>
          <a:xfrm>
            <a:off x="2531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8" name="Shape 96"/>
          <p:cNvSpPr/>
          <p:nvPr/>
        </p:nvSpPr>
        <p:spPr>
          <a:xfrm>
            <a:off x="25371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9" name="Shape 97"/>
          <p:cNvSpPr/>
          <p:nvPr/>
        </p:nvSpPr>
        <p:spPr>
          <a:xfrm>
            <a:off x="2539761" y="1837944"/>
            <a:ext cx="83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255046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255335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556617" y="1837944"/>
            <a:ext cx="112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57073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577117" y="1837944"/>
            <a:ext cx="2520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6047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6077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610904" y="1837944"/>
            <a:ext cx="110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62434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6273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63056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6436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649778" y="1837944"/>
            <a:ext cx="175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2668000" y="1837944"/>
            <a:ext cx="79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67893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684780" y="1837944"/>
            <a:ext cx="1009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269715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27031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2706191" y="1837944"/>
            <a:ext cx="88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7174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7203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2723578" y="1837944"/>
            <a:ext cx="242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74855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2754632" y="1837944"/>
            <a:ext cx="926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2764730" y="1837944"/>
            <a:ext cx="47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277141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2773841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27856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2791380" y="1837944"/>
            <a:ext cx="2513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2818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282509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2827673" y="1837944"/>
            <a:ext cx="80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283807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2844073" y="1837944"/>
            <a:ext cx="1047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28569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286290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2865408" y="1837944"/>
            <a:ext cx="173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2884010" y="1837944"/>
            <a:ext cx="197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2905269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29121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914684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2923112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2929414" y="1837944"/>
            <a:ext cx="275832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690164" y="1837944"/>
            <a:ext cx="7622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5519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3927" y="1837944"/>
            <a:ext cx="1731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82226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499157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516620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533400" y="1837944"/>
            <a:ext cx="156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550028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566883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583967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600670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17602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634458" y="1837944"/>
            <a:ext cx="1556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651009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667865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684645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701500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718432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735515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752751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769606" y="1837944"/>
            <a:ext cx="165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787069" y="1837944"/>
            <a:ext cx="167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804836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821995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840217" y="1837944"/>
            <a:ext cx="135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854643" y="1837944"/>
            <a:ext cx="81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863527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871043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941275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020238" y="1837944"/>
            <a:ext cx="7121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093583" y="1837944"/>
            <a:ext cx="250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122359" y="1837944"/>
            <a:ext cx="13719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5" name="Text 173"/>
          <p:cNvSpPr/>
          <p:nvPr/>
        </p:nvSpPr>
        <p:spPr>
          <a:xfrm>
            <a:off x="7671816" y="18105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543 ms · 67%</a:t>
            </a:r>
            <a:endParaRPr lang="en-US" sz="900" dirty="0"/>
          </a:p>
        </p:txBody>
      </p:sp>
      <p:sp>
        <p:nvSpPr>
          <p:cNvPr id="176" name="Text 174"/>
          <p:cNvSpPr/>
          <p:nvPr/>
        </p:nvSpPr>
        <p:spPr>
          <a:xfrm>
            <a:off x="457200" y="2212848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1508760" y="2212848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4149167" y="2240280"/>
            <a:ext cx="4775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9" name="Shape 177"/>
          <p:cNvSpPr/>
          <p:nvPr/>
        </p:nvSpPr>
        <p:spPr>
          <a:xfrm>
            <a:off x="4455377" y="2240280"/>
            <a:ext cx="4449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768269" y="2240280"/>
            <a:ext cx="4282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047449" y="2240280"/>
            <a:ext cx="39861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351534" y="2240280"/>
            <a:ext cx="37204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648253" y="2240280"/>
            <a:ext cx="3879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765255" y="2240280"/>
            <a:ext cx="43050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872994" y="2240280"/>
            <a:ext cx="4175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986959" y="2240280"/>
            <a:ext cx="44037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093028" y="2240280"/>
            <a:ext cx="4327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202134" y="2240280"/>
            <a:ext cx="4350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306836" y="2240280"/>
            <a:ext cx="4320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411463" y="2240280"/>
            <a:ext cx="4069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882660" y="2240280"/>
            <a:ext cx="21715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966255" y="2240280"/>
            <a:ext cx="3591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259557" y="2240280"/>
            <a:ext cx="33232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4" name="Text 192"/>
          <p:cNvSpPr/>
          <p:nvPr/>
        </p:nvSpPr>
        <p:spPr>
          <a:xfrm>
            <a:off x="7671816" y="221284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124 ms · 15%</a:t>
            </a:r>
            <a:endParaRPr lang="en-US" sz="900" dirty="0"/>
          </a:p>
        </p:txBody>
      </p:sp>
      <p:sp>
        <p:nvSpPr>
          <p:cNvPr id="195" name="Shape 193"/>
          <p:cNvSpPr/>
          <p:nvPr/>
        </p:nvSpPr>
        <p:spPr>
          <a:xfrm>
            <a:off x="3855637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>
            <a:off x="6957979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7" name="Shape 195"/>
          <p:cNvSpPr/>
          <p:nvPr/>
        </p:nvSpPr>
        <p:spPr>
          <a:xfrm>
            <a:off x="1508760" y="2633472"/>
            <a:ext cx="61264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1508760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1234440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3027283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2752963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800" dirty="0"/>
          </a:p>
        </p:txBody>
      </p:sp>
      <p:sp>
        <p:nvSpPr>
          <p:cNvPr id="202" name="Shape 200"/>
          <p:cNvSpPr/>
          <p:nvPr/>
        </p:nvSpPr>
        <p:spPr>
          <a:xfrm>
            <a:off x="4545805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271485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800" dirty="0"/>
          </a:p>
        </p:txBody>
      </p:sp>
      <p:sp>
        <p:nvSpPr>
          <p:cNvPr id="204" name="Shape 202"/>
          <p:cNvSpPr/>
          <p:nvPr/>
        </p:nvSpPr>
        <p:spPr>
          <a:xfrm>
            <a:off x="6064328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5790008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800" dirty="0"/>
          </a:p>
        </p:txBody>
      </p:sp>
      <p:sp>
        <p:nvSpPr>
          <p:cNvPr id="206" name="Shape 204"/>
          <p:cNvSpPr/>
          <p:nvPr/>
        </p:nvSpPr>
        <p:spPr>
          <a:xfrm>
            <a:off x="7582851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7308531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800" dirty="0"/>
          </a:p>
        </p:txBody>
      </p:sp>
      <p:sp>
        <p:nvSpPr>
          <p:cNvPr id="208" name="Text 206"/>
          <p:cNvSpPr/>
          <p:nvPr/>
        </p:nvSpPr>
        <p:spPr>
          <a:xfrm>
            <a:off x="5806440" y="2834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ms within one training step</a:t>
            </a:r>
            <a:endParaRPr lang="en-US" sz="800" dirty="0"/>
          </a:p>
        </p:txBody>
      </p:sp>
      <p:sp>
        <p:nvSpPr>
          <p:cNvPr id="209" name="Shape 207"/>
          <p:cNvSpPr/>
          <p:nvPr/>
        </p:nvSpPr>
        <p:spPr>
          <a:xfrm>
            <a:off x="1553987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0" name="Text 208"/>
          <p:cNvSpPr/>
          <p:nvPr/>
        </p:nvSpPr>
        <p:spPr>
          <a:xfrm>
            <a:off x="1553987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850" dirty="0"/>
          </a:p>
        </p:txBody>
      </p:sp>
      <p:sp>
        <p:nvSpPr>
          <p:cNvPr id="211" name="Shape 209"/>
          <p:cNvSpPr/>
          <p:nvPr/>
        </p:nvSpPr>
        <p:spPr>
          <a:xfrm>
            <a:off x="225250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2" name="Text 210"/>
          <p:cNvSpPr/>
          <p:nvPr/>
        </p:nvSpPr>
        <p:spPr>
          <a:xfrm>
            <a:off x="225250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850" dirty="0"/>
          </a:p>
        </p:txBody>
      </p:sp>
      <p:sp>
        <p:nvSpPr>
          <p:cNvPr id="213" name="Shape 211"/>
          <p:cNvSpPr/>
          <p:nvPr/>
        </p:nvSpPr>
        <p:spPr>
          <a:xfrm>
            <a:off x="460621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4" name="Text 212"/>
          <p:cNvSpPr/>
          <p:nvPr/>
        </p:nvSpPr>
        <p:spPr>
          <a:xfrm>
            <a:off x="460621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850" dirty="0"/>
          </a:p>
        </p:txBody>
      </p:sp>
      <p:sp>
        <p:nvSpPr>
          <p:cNvPr id="215" name="Shape 213"/>
          <p:cNvSpPr/>
          <p:nvPr/>
        </p:nvSpPr>
        <p:spPr>
          <a:xfrm>
            <a:off x="7324373" y="2276856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6" name="Text 214"/>
          <p:cNvSpPr/>
          <p:nvPr/>
        </p:nvSpPr>
        <p:spPr>
          <a:xfrm>
            <a:off x="7324373" y="22768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850" dirty="0"/>
          </a:p>
        </p:txBody>
      </p:sp>
      <p:sp>
        <p:nvSpPr>
          <p:cNvPr id="217" name="Text 215"/>
          <p:cNvSpPr/>
          <p:nvPr/>
        </p:nvSpPr>
        <p:spPr>
          <a:xfrm>
            <a:off x="1508760" y="2898648"/>
            <a:ext cx="6126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in bands: prep 0, Qwen3.5 50, DiT 120 | DiT 224, Qwen3.5 123, optim 26 ms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09981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114800"/>
                <a:gridCol w="24688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 · fp32 action head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201 ms fp32 GEMMs vs 66 ms bf16 — 2.96B DiT outside autocast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bf16 DiT  (−218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· CPU inside forward()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first ~40 ms of every step: compute idle, HF preprocessing on critical path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collate in DataLoader workers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 · Per-step syncs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loss readback, DS timers, MRoPE position-ids, mm-merge check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 + caches  (2+3: −117)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4 · Launch-bound eager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13,868 launches @ 8 µs median; occupancy fwd 34% vs bwd 70%; idle 205 ms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CUDA Graphs + compile  (−126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5 · Comm configuration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15 small AR buckets; 22 ms redundant flatten; exposed AllGather tail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 + reduce_scatter off  (−22)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9" name="Text 21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20" name="Text 21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221" name="Shape 21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2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Optimization Roadmap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Actual step time (ms) after each optimization lands — same node, steady-state p50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51560" y="365760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51560" y="307467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8323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51560" y="249174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003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51560" y="190881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1737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51560" y="132588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34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219200" y="1325880"/>
            <a:ext cx="914400" cy="233172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5" name="Text 13"/>
          <p:cNvSpPr/>
          <p:nvPr/>
        </p:nvSpPr>
        <p:spPr>
          <a:xfrm>
            <a:off x="1127760" y="1069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66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(fp32 head, eager)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68880" y="1961274"/>
            <a:ext cx="914400" cy="1696326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170524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582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4637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bf16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head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18560" y="2410130"/>
            <a:ext cx="914400" cy="124747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3627120" y="215409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428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49605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Pipeline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&amp; caching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968240" y="2497569"/>
            <a:ext cx="914400" cy="1160031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4" name="Text 22"/>
          <p:cNvSpPr/>
          <p:nvPr/>
        </p:nvSpPr>
        <p:spPr>
          <a:xfrm>
            <a:off x="4876800" y="2241537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398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4573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Mixed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17920" y="2867730"/>
            <a:ext cx="914400" cy="78987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0" y="261169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271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99541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CUDA Graphs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compile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467600" y="2931852"/>
            <a:ext cx="914400" cy="7257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376160" y="26758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249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2450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ZeRO-2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comm tuning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1413319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3.2× faster end to end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51560" y="4160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Cumulative levels re-measured per step with nsys attached on rank 0 (~5% overhead). The torch 2.7.1 + NCCL 2.26.2 environment upgrade landed between the bf16 and pipeline levels and is folded into the Pipeline bar. Final 249 ms = clean steady-state p50 of merged main.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Fix 1 · bf16 Action Head: −218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582 ms.  One config knob — and numerically a no-op for training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984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by kernel class (baseline step, 543 ms)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09344"/>
            <a:ext cx="1920240" cy="182880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6" name="Text 4"/>
          <p:cNvSpPr/>
          <p:nvPr/>
        </p:nvSpPr>
        <p:spPr>
          <a:xfrm>
            <a:off x="2432304" y="158191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201 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79222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fp32 GEMM — all from the action head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120373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" name="Text 7"/>
          <p:cNvSpPr/>
          <p:nvPr/>
        </p:nvSpPr>
        <p:spPr>
          <a:xfrm>
            <a:off x="1715797" y="192938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126 ms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139696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other (fla/GDN, embeddings, misc)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2304288"/>
            <a:ext cx="974450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2" name="Text 10"/>
          <p:cNvSpPr/>
          <p:nvPr/>
        </p:nvSpPr>
        <p:spPr>
          <a:xfrm>
            <a:off x="1486514" y="22768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102 ms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48716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elementwise / norm / reduce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630527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1142591" y="26243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66 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834640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 GEMM (Qwen3.5)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999232"/>
            <a:ext cx="25794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8" name="Text 16"/>
          <p:cNvSpPr/>
          <p:nvPr/>
        </p:nvSpPr>
        <p:spPr>
          <a:xfrm>
            <a:off x="770007" y="2971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 ms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18211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copy / gather / cat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346704"/>
            <a:ext cx="210176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21" name="Text 19"/>
          <p:cNvSpPr/>
          <p:nvPr/>
        </p:nvSpPr>
        <p:spPr>
          <a:xfrm>
            <a:off x="722240" y="331927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22 ms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52958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 kernels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373075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37% of all GPU math is fp32 </a:t>
            </a:r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— all of it from the 2.96B DiT outside the bf16 autocast region.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12984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seed, 200 steps: loss is unchanged</a:t>
            </a:r>
            <a:endParaRPr lang="en-US" sz="12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4754880" y="1600200"/>
          <a:ext cx="39319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 23"/>
          <p:cNvSpPr/>
          <p:nvPr/>
        </p:nvSpPr>
        <p:spPr>
          <a:xfrm>
            <a:off x="4754880" y="37307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loss, training steps 1 → 200 · mean per-step |Δ| = 0.04 (run-to-run noise floor) · final: 0.549 vs 0.533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57200" y="4041648"/>
            <a:ext cx="822960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8" name="Shape 25"/>
          <p:cNvSpPr/>
          <p:nvPr/>
        </p:nvSpPr>
        <p:spPr>
          <a:xfrm>
            <a:off x="457200" y="4041648"/>
            <a:ext cx="54864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4041648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was it fp32 at all? 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Inherited caution for diffusion numerics. Only the timestep embedding and the loss math need fp32 — we kept exactly those in fp32 and moved the transformer body to bf16 (dit_dtype knob, one-line rollback).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3" name="Image 0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Sync Points: Where the CPU Blocks the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Four CPU round-trips hide inside every baseline training step</a:t>
            </a:r>
            <a:endParaRPr lang="en-US" sz="1500" dirty="0"/>
          </a:p>
        </p:txBody>
      </p:sp>
      <p:pic>
        <p:nvPicPr>
          <p:cNvPr id="4" name="Image 0" descr="/work/tikz-syncpoi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6316" y="1280160"/>
            <a:ext cx="5871367" cy="2103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529584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1234440" y="3529584"/>
            <a:ext cx="7315200" cy="27432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" name="Shape 4"/>
          <p:cNvSpPr/>
          <p:nvPr/>
        </p:nvSpPr>
        <p:spPr>
          <a:xfrm>
            <a:off x="1234440" y="3547872"/>
            <a:ext cx="336499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" name="Shape 5"/>
          <p:cNvSpPr/>
          <p:nvPr/>
        </p:nvSpPr>
        <p:spPr>
          <a:xfrm>
            <a:off x="1570939" y="3547872"/>
            <a:ext cx="395021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" name="Shape 6"/>
          <p:cNvSpPr/>
          <p:nvPr/>
        </p:nvSpPr>
        <p:spPr>
          <a:xfrm>
            <a:off x="1965960" y="3547872"/>
            <a:ext cx="109728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0" name="Shape 7"/>
          <p:cNvSpPr/>
          <p:nvPr/>
        </p:nvSpPr>
        <p:spPr>
          <a:xfrm>
            <a:off x="2075688" y="3547872"/>
            <a:ext cx="402336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Shape 8"/>
          <p:cNvSpPr/>
          <p:nvPr/>
        </p:nvSpPr>
        <p:spPr>
          <a:xfrm>
            <a:off x="2478024" y="3547872"/>
            <a:ext cx="117043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2" name="Shape 9"/>
          <p:cNvSpPr/>
          <p:nvPr/>
        </p:nvSpPr>
        <p:spPr>
          <a:xfrm>
            <a:off x="2595067" y="3547872"/>
            <a:ext cx="1309421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Shape 10"/>
          <p:cNvSpPr/>
          <p:nvPr/>
        </p:nvSpPr>
        <p:spPr>
          <a:xfrm>
            <a:off x="3904488" y="3547872"/>
            <a:ext cx="109728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4" name="Shape 11"/>
          <p:cNvSpPr/>
          <p:nvPr/>
        </p:nvSpPr>
        <p:spPr>
          <a:xfrm>
            <a:off x="4160520" y="3547872"/>
            <a:ext cx="3511296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Shape 12"/>
          <p:cNvSpPr/>
          <p:nvPr/>
        </p:nvSpPr>
        <p:spPr>
          <a:xfrm>
            <a:off x="8037576" y="3547872"/>
            <a:ext cx="292608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3"/>
          <p:cNvSpPr/>
          <p:nvPr/>
        </p:nvSpPr>
        <p:spPr>
          <a:xfrm>
            <a:off x="1329538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944014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463394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882542" y="32918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234440" y="384048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baseline step (807 ms, schematic) — red = GPU stalled on CPU work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40080" y="404164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Measured: 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stall 1 ≈ 37 ms at every step start; stall 3 ≈ 13 ms; stall 4 drains the launch pipeline twice per step — together seeding the 205 ms/step of GPU idle. The next page removes all four.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5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Removing the Sync Points: −117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545 → 428 ms.  Every CPU round-trip moves off the critical path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Before — everything serialized inside forward()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5720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32588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" name="Shape 5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" name="Text 6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~40 ms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24485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0" name="Shape 8"/>
          <p:cNvSpPr/>
          <p:nvPr/>
        </p:nvSpPr>
        <p:spPr>
          <a:xfrm>
            <a:off x="301066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1" name="Shape 9"/>
          <p:cNvSpPr/>
          <p:nvPr/>
        </p:nvSpPr>
        <p:spPr>
          <a:xfrm>
            <a:off x="3868369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32588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4" name="Shape 12"/>
          <p:cNvSpPr/>
          <p:nvPr/>
        </p:nvSpPr>
        <p:spPr>
          <a:xfrm>
            <a:off x="2183587" y="1865376"/>
            <a:ext cx="153162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32588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7" name="Shape 15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052164" y="2176272"/>
            <a:ext cx="24505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After — CPU work overlaps the previous step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5488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workers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62356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5" name="Shape 23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6" name="Text 24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batch N+1 (8 DataLoader workers, pinned)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5488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62356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9" name="Shape 27"/>
          <p:cNvSpPr/>
          <p:nvPr/>
        </p:nvSpPr>
        <p:spPr>
          <a:xfrm>
            <a:off x="5623560" y="1865376"/>
            <a:ext cx="183794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62356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2" name="Shape 30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Text 31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Text 33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859725" y="2176272"/>
            <a:ext cx="39822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2505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 = per-step syncs (loss readback, DS timers, mm-merge check): each one drains the launch pipeline and strands the GPU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61488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480560"/>
                <a:gridCol w="20116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Preprocess in workers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HF processor (image patches + tokenize) runs in 8 workers, overlapped with the previous step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~40 ms off the critical path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Side-stream H2D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pinned host batch + dedicated copy stream, overlaps the ZeRO-2 optimizer tail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upload hidden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timers unsynchronized; loss .item() only on logging steps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device syncs / step removed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position-id cache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3D position ids precomputed on CPU, cached by image grid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~13 ms sync eliminated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+ Mixed attention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vision tower FA2 varlen (16 images / kernel); text stays SDPA — full FA2 measured slower at seq 192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−30 ms (428 → 398)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Text 3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4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CUDA Graphs: Launch-Bound Forward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Anatomy of the Qwen3.5 forward — same math, very different wall clock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39903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(eager)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920240" y="1417320"/>
            <a:ext cx="2131541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1417320"/>
            <a:ext cx="213154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50 ms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51781" y="1417320"/>
            <a:ext cx="4177819" cy="3840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" name="Text 6"/>
          <p:cNvSpPr/>
          <p:nvPr/>
        </p:nvSpPr>
        <p:spPr>
          <a:xfrm>
            <a:off x="4051781" y="1417320"/>
            <a:ext cx="4177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waiting for launches 98 ms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302752" y="141732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148 ms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920240" y="181965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3,929 kernel launches · 19.1 ms of cudaLaunchKernel CPU time · occupancy 34%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226771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Optimized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(CUDA Graphs)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920240" y="2286000"/>
            <a:ext cx="1577340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" name="Text 11"/>
          <p:cNvSpPr/>
          <p:nvPr/>
        </p:nvSpPr>
        <p:spPr>
          <a:xfrm>
            <a:off x="1920240" y="2286000"/>
            <a:ext cx="15773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37 ms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97580" y="2286000"/>
            <a:ext cx="1193663" cy="3840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5" name="Text 13"/>
          <p:cNvSpPr/>
          <p:nvPr/>
        </p:nvSpPr>
        <p:spPr>
          <a:xfrm>
            <a:off x="3497580" y="2286000"/>
            <a:ext cx="119366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waiting for launches 28 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64395" y="22860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65 ms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920240" y="268833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 graph launches + 736 eager · 9.4 ms launch CPU · occupancy 57%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920240" y="2907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2.3× </a:t>
            </a:r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forward wall clock — with 81% fewer launches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57200" y="3346704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An eager op costs 30–60 µs of Python dispatch + launch; the median kernel runs 8 µs — the GPU finishes before the CPU can feed the next one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suffers far less (C++ autograd engine, occupancy 70%) — forward is where launch overhead bites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 CUDA Graph replays an entire 8-layer group as ONE cudaGraphLaunch — per-op dispatch leaves the critical path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062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Busy also shrinks 50 → 37 ms (mixed attention + fusion); the split isolates the launch effect. Windows: baseline Qwen3.5 fwd vs merged-main VLM fwd, same launch-window accounting.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9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4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CUDA Graphs — and Why Four, Not One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398 → 271 ms (−126).  Capture once, replay every step</a:t>
            </a:r>
            <a:endParaRPr lang="en-US" sz="1500" dirty="0"/>
          </a:p>
        </p:txBody>
      </p:sp>
      <p:pic>
        <p:nvPicPr>
          <p:cNvPr id="4" name="Image 0" descr="/work/tikz-grap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026481" cy="2606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087368"/>
            <a:ext cx="33922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Enablers: static shapes (pad-192) · vision tower = 1 graph · DiT = torch.compile · merge sync-free eager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3940881" y="1371600"/>
            <a:ext cx="4745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is the decoder FOUR graphs, not one?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940881" y="1682496"/>
            <a:ext cx="47459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DeepSpeed's compute-comm overlap must survive: </a:t>
            </a:r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AllReduce hooks fire only BETWEEN replays — never inside one.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940881" y="2103120"/>
            <a:ext cx="47459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 graphs — AllReduce overlaps the group replays: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940881" y="23591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940881" y="259689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443801" y="2359152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Shape 9"/>
          <p:cNvSpPr/>
          <p:nvPr/>
        </p:nvSpPr>
        <p:spPr>
          <a:xfrm>
            <a:off x="4443801" y="2596896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43801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" name="Text 11"/>
          <p:cNvSpPr/>
          <p:nvPr/>
        </p:nvSpPr>
        <p:spPr>
          <a:xfrm>
            <a:off x="4443801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G4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283257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3"/>
          <p:cNvSpPr/>
          <p:nvPr/>
        </p:nvSpPr>
        <p:spPr>
          <a:xfrm>
            <a:off x="5283257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G3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22713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5"/>
          <p:cNvSpPr/>
          <p:nvPr/>
        </p:nvSpPr>
        <p:spPr>
          <a:xfrm>
            <a:off x="6122713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G2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962168" y="2368296"/>
            <a:ext cx="755510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7"/>
          <p:cNvSpPr/>
          <p:nvPr/>
        </p:nvSpPr>
        <p:spPr>
          <a:xfrm>
            <a:off x="6962168" y="2359152"/>
            <a:ext cx="7555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 G1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5241284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" name="Shape 19"/>
          <p:cNvSpPr/>
          <p:nvPr/>
        </p:nvSpPr>
        <p:spPr>
          <a:xfrm>
            <a:off x="6080740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3" name="Shape 20"/>
          <p:cNvSpPr/>
          <p:nvPr/>
        </p:nvSpPr>
        <p:spPr>
          <a:xfrm>
            <a:off x="6920196" y="2606040"/>
            <a:ext cx="629592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4" name="Shape 21"/>
          <p:cNvSpPr/>
          <p:nvPr/>
        </p:nvSpPr>
        <p:spPr>
          <a:xfrm>
            <a:off x="7759651" y="2606040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5" name="Shape 22"/>
          <p:cNvSpPr/>
          <p:nvPr/>
        </p:nvSpPr>
        <p:spPr>
          <a:xfrm>
            <a:off x="8053461" y="2340864"/>
            <a:ext cx="0" cy="475488"/>
          </a:xfrm>
          <a:prstGeom prst="line">
            <a:avLst/>
          </a:prstGeom>
          <a:noFill/>
          <a:ln w="22225">
            <a:solidFill>
              <a:srgbClr val="890C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940881" y="2907792"/>
            <a:ext cx="47459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 graph — every AllReduce waits for the whole backward: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3940881" y="31638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3940881" y="340156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443801" y="3163824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0" name="Shape 27"/>
          <p:cNvSpPr/>
          <p:nvPr/>
        </p:nvSpPr>
        <p:spPr>
          <a:xfrm>
            <a:off x="4443801" y="3401568"/>
            <a:ext cx="4197279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1" name="Shape 28"/>
          <p:cNvSpPr/>
          <p:nvPr/>
        </p:nvSpPr>
        <p:spPr>
          <a:xfrm>
            <a:off x="4443801" y="3172968"/>
            <a:ext cx="3273878" cy="18288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Text 29"/>
          <p:cNvSpPr/>
          <p:nvPr/>
        </p:nvSpPr>
        <p:spPr>
          <a:xfrm>
            <a:off x="4443801" y="3163824"/>
            <a:ext cx="327387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(one giant graph, hooks cannot fire inside)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7717679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4" name="Shape 31"/>
          <p:cNvSpPr/>
          <p:nvPr/>
        </p:nvSpPr>
        <p:spPr>
          <a:xfrm>
            <a:off x="8032475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5" name="Shape 32"/>
          <p:cNvSpPr/>
          <p:nvPr/>
        </p:nvSpPr>
        <p:spPr>
          <a:xfrm>
            <a:off x="8347270" y="3410712"/>
            <a:ext cx="293810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6" name="Shape 33"/>
          <p:cNvSpPr/>
          <p:nvPr/>
        </p:nvSpPr>
        <p:spPr>
          <a:xfrm>
            <a:off x="8641080" y="3145536"/>
            <a:ext cx="0" cy="475488"/>
          </a:xfrm>
          <a:prstGeom prst="line">
            <a:avLst/>
          </a:prstGeom>
          <a:noFill/>
          <a:ln w="22225">
            <a:solidFill>
              <a:srgbClr val="890C5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940881" y="3621024"/>
            <a:ext cx="474591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compute, same bytes — the red line is where the step ends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3940881" y="3785616"/>
            <a:ext cx="4745919" cy="54864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39" name="Shape 36"/>
          <p:cNvSpPr/>
          <p:nvPr/>
        </p:nvSpPr>
        <p:spPr>
          <a:xfrm>
            <a:off x="3940881" y="3785616"/>
            <a:ext cx="54864" cy="548640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Text 37"/>
          <p:cNvSpPr/>
          <p:nvPr/>
        </p:nvSpPr>
        <p:spPr>
          <a:xfrm>
            <a:off x="4123761" y="3785616"/>
            <a:ext cx="44715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Kernel launches: 13.9k → 6.4k per step. </a:t>
            </a:r>
            <a:pPr indent="0" marL="0">
              <a:buNone/>
            </a:pPr>
            <a:r>
              <a:rPr lang="en-US" sz="11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launch cost leaves the critical path; GPU idle collapses.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44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Comm Tuning: Two Knobs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271 → 249 ms.  Two different problems: a redundant flatten, and a blocked backward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969264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54864" cy="9692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24358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Knob 1 · reduce_scatter → false   (−13 ms)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21792" y="148132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Default path flattens every bucket (22 ms/step CatArrayBatchedCopy) — but grads already sit contiguous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Plain AllReduce skips it. Cost: ~2× wire bytes — fine while comm overlaps and NVLink has headroom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023360" cy="969264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9" name="Shape 7"/>
          <p:cNvSpPr/>
          <p:nvPr/>
        </p:nvSpPr>
        <p:spPr>
          <a:xfrm>
            <a:off x="4663440" y="1188720"/>
            <a:ext cx="54864" cy="9692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" name="Text 8"/>
          <p:cNvSpPr/>
          <p:nvPr/>
        </p:nvSpPr>
        <p:spPr>
          <a:xfrm>
            <a:off x="4828032" y="124358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Knob 2 · reduce_bucket_size → 1.5e9   (−12 ms)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828032" y="148132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Grads double-buffer into TWO buckets; every boundary makes compute wait on the reduction stream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Too small → backward stalls behind its own AllReduces (below). Too big → exposed tail (2e9 worse)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230428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bucket 5e8 — backward 167 ms · 18 AllReduces · 15 stalls, 47 ms of blocked compute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52374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234440" y="2523744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 AR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234440" y="2761488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4873" y="2542032"/>
            <a:ext cx="120416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Shape 16"/>
          <p:cNvSpPr/>
          <p:nvPr/>
        </p:nvSpPr>
        <p:spPr>
          <a:xfrm>
            <a:off x="2665922" y="2542032"/>
            <a:ext cx="2035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" name="Shape 17"/>
          <p:cNvSpPr/>
          <p:nvPr/>
        </p:nvSpPr>
        <p:spPr>
          <a:xfrm>
            <a:off x="2879822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Shape 18"/>
          <p:cNvSpPr/>
          <p:nvPr/>
        </p:nvSpPr>
        <p:spPr>
          <a:xfrm>
            <a:off x="3089825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Shape 19"/>
          <p:cNvSpPr/>
          <p:nvPr/>
        </p:nvSpPr>
        <p:spPr>
          <a:xfrm>
            <a:off x="3300694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Shape 20"/>
          <p:cNvSpPr/>
          <p:nvPr/>
        </p:nvSpPr>
        <p:spPr>
          <a:xfrm>
            <a:off x="3363045" y="2542032"/>
            <a:ext cx="1169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3" name="Shape 21"/>
          <p:cNvSpPr/>
          <p:nvPr/>
        </p:nvSpPr>
        <p:spPr>
          <a:xfrm>
            <a:off x="3503768" y="2542032"/>
            <a:ext cx="76337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4" name="Shape 22"/>
          <p:cNvSpPr/>
          <p:nvPr/>
        </p:nvSpPr>
        <p:spPr>
          <a:xfrm>
            <a:off x="4338150" y="2542032"/>
            <a:ext cx="692359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Shape 23"/>
          <p:cNvSpPr/>
          <p:nvPr/>
        </p:nvSpPr>
        <p:spPr>
          <a:xfrm>
            <a:off x="5212368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6" name="Shape 24"/>
          <p:cNvSpPr/>
          <p:nvPr/>
        </p:nvSpPr>
        <p:spPr>
          <a:xfrm>
            <a:off x="5259131" y="2542032"/>
            <a:ext cx="705782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6158462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6196999" y="2542032"/>
            <a:ext cx="70838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7116248" y="2542032"/>
            <a:ext cx="19052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7150022" y="2542032"/>
            <a:ext cx="65598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7867062" y="2542032"/>
            <a:ext cx="123404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8054549" y="2542032"/>
            <a:ext cx="1991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8340326" y="2542032"/>
            <a:ext cx="25547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2439033" y="2519172"/>
            <a:ext cx="226890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5" name="Shape 33"/>
          <p:cNvSpPr/>
          <p:nvPr/>
        </p:nvSpPr>
        <p:spPr>
          <a:xfrm>
            <a:off x="2686273" y="2519172"/>
            <a:ext cx="19354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6" name="Shape 34"/>
          <p:cNvSpPr/>
          <p:nvPr/>
        </p:nvSpPr>
        <p:spPr>
          <a:xfrm>
            <a:off x="2899740" y="2519172"/>
            <a:ext cx="190085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7" name="Shape 35"/>
          <p:cNvSpPr/>
          <p:nvPr/>
        </p:nvSpPr>
        <p:spPr>
          <a:xfrm>
            <a:off x="3109743" y="2519172"/>
            <a:ext cx="190951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0611" y="2519172"/>
            <a:ext cx="4243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39" name="Shape 37"/>
          <p:cNvSpPr/>
          <p:nvPr/>
        </p:nvSpPr>
        <p:spPr>
          <a:xfrm>
            <a:off x="3374736" y="2519172"/>
            <a:ext cx="129033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0" name="Shape 38"/>
          <p:cNvSpPr/>
          <p:nvPr/>
        </p:nvSpPr>
        <p:spPr>
          <a:xfrm>
            <a:off x="4267139" y="2519172"/>
            <a:ext cx="71011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1" name="Shape 39"/>
          <p:cNvSpPr/>
          <p:nvPr/>
        </p:nvSpPr>
        <p:spPr>
          <a:xfrm>
            <a:off x="5030510" y="2519172"/>
            <a:ext cx="181858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2" name="Shape 40"/>
          <p:cNvSpPr/>
          <p:nvPr/>
        </p:nvSpPr>
        <p:spPr>
          <a:xfrm>
            <a:off x="5232286" y="2519172"/>
            <a:ext cx="26846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3" name="Shape 41"/>
          <p:cNvSpPr/>
          <p:nvPr/>
        </p:nvSpPr>
        <p:spPr>
          <a:xfrm>
            <a:off x="5964914" y="2519172"/>
            <a:ext cx="19354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4" name="Shape 42"/>
          <p:cNvSpPr/>
          <p:nvPr/>
        </p:nvSpPr>
        <p:spPr>
          <a:xfrm>
            <a:off x="6905379" y="2519172"/>
            <a:ext cx="21086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5" name="Shape 43"/>
          <p:cNvSpPr/>
          <p:nvPr/>
        </p:nvSpPr>
        <p:spPr>
          <a:xfrm>
            <a:off x="7806010" y="2519172"/>
            <a:ext cx="61052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90466" y="2519172"/>
            <a:ext cx="64083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74467" y="2519172"/>
            <a:ext cx="5628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8" name="Shape 46"/>
          <p:cNvSpPr/>
          <p:nvPr/>
        </p:nvSpPr>
        <p:spPr>
          <a:xfrm>
            <a:off x="8131622" y="2519172"/>
            <a:ext cx="20870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49" name="Shape 47"/>
          <p:cNvSpPr/>
          <p:nvPr/>
        </p:nvSpPr>
        <p:spPr>
          <a:xfrm>
            <a:off x="2492291" y="2779776"/>
            <a:ext cx="173631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0" name="Shape 48"/>
          <p:cNvSpPr/>
          <p:nvPr/>
        </p:nvSpPr>
        <p:spPr>
          <a:xfrm>
            <a:off x="2688438" y="2779776"/>
            <a:ext cx="19138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1" name="Shape 49"/>
          <p:cNvSpPr/>
          <p:nvPr/>
        </p:nvSpPr>
        <p:spPr>
          <a:xfrm>
            <a:off x="2901039" y="2779776"/>
            <a:ext cx="188786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2" name="Shape 50"/>
          <p:cNvSpPr/>
          <p:nvPr/>
        </p:nvSpPr>
        <p:spPr>
          <a:xfrm>
            <a:off x="3112341" y="2779776"/>
            <a:ext cx="188353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3" name="Shape 51"/>
          <p:cNvSpPr/>
          <p:nvPr/>
        </p:nvSpPr>
        <p:spPr>
          <a:xfrm>
            <a:off x="3321044" y="2779776"/>
            <a:ext cx="18272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4" name="Shape 52"/>
          <p:cNvSpPr/>
          <p:nvPr/>
        </p:nvSpPr>
        <p:spPr>
          <a:xfrm>
            <a:off x="3525418" y="2779776"/>
            <a:ext cx="199178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5" name="Shape 53"/>
          <p:cNvSpPr/>
          <p:nvPr/>
        </p:nvSpPr>
        <p:spPr>
          <a:xfrm>
            <a:off x="4296583" y="2779776"/>
            <a:ext cx="198745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6" name="Shape 54"/>
          <p:cNvSpPr/>
          <p:nvPr/>
        </p:nvSpPr>
        <p:spPr>
          <a:xfrm>
            <a:off x="5035273" y="2779776"/>
            <a:ext cx="177095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7" name="Shape 55"/>
          <p:cNvSpPr/>
          <p:nvPr/>
        </p:nvSpPr>
        <p:spPr>
          <a:xfrm>
            <a:off x="5233152" y="2779776"/>
            <a:ext cx="210003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8" name="Shape 56"/>
          <p:cNvSpPr/>
          <p:nvPr/>
        </p:nvSpPr>
        <p:spPr>
          <a:xfrm>
            <a:off x="5973573" y="2779776"/>
            <a:ext cx="184889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59" name="Shape 57"/>
          <p:cNvSpPr/>
          <p:nvPr/>
        </p:nvSpPr>
        <p:spPr>
          <a:xfrm>
            <a:off x="6179679" y="2779776"/>
            <a:ext cx="206106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0" name="Shape 58"/>
          <p:cNvSpPr/>
          <p:nvPr/>
        </p:nvSpPr>
        <p:spPr>
          <a:xfrm>
            <a:off x="6918802" y="2779776"/>
            <a:ext cx="197013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1" name="Shape 59"/>
          <p:cNvSpPr/>
          <p:nvPr/>
        </p:nvSpPr>
        <p:spPr>
          <a:xfrm>
            <a:off x="7136599" y="2779776"/>
            <a:ext cx="20870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2" name="Shape 60"/>
          <p:cNvSpPr/>
          <p:nvPr/>
        </p:nvSpPr>
        <p:spPr>
          <a:xfrm>
            <a:off x="7862732" y="2779776"/>
            <a:ext cx="191817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3" name="Shape 61"/>
          <p:cNvSpPr/>
          <p:nvPr/>
        </p:nvSpPr>
        <p:spPr>
          <a:xfrm>
            <a:off x="8118199" y="2779776"/>
            <a:ext cx="1212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4" name="Shape 62"/>
          <p:cNvSpPr/>
          <p:nvPr/>
        </p:nvSpPr>
        <p:spPr>
          <a:xfrm>
            <a:off x="8135519" y="2779776"/>
            <a:ext cx="204807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65" name="Text 63"/>
          <p:cNvSpPr/>
          <p:nvPr/>
        </p:nvSpPr>
        <p:spPr>
          <a:xfrm>
            <a:off x="457200" y="31272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bucket 1.5e9 — backward 154 ms · 8 AllReduces · 8 stalls, 27 ms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457200" y="3346704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1234440" y="3346704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358444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 AR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1234440" y="3584448"/>
            <a:ext cx="7360920" cy="20116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0" name="Shape 68"/>
          <p:cNvSpPr/>
          <p:nvPr/>
        </p:nvSpPr>
        <p:spPr>
          <a:xfrm>
            <a:off x="1234873" y="3364992"/>
            <a:ext cx="119117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714851" y="3364992"/>
            <a:ext cx="888073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3681729" y="3364992"/>
            <a:ext cx="866857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4610071" y="3364992"/>
            <a:ext cx="871620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5535815" y="3364992"/>
            <a:ext cx="615286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6222979" y="3364992"/>
            <a:ext cx="824423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7103691" y="3364992"/>
            <a:ext cx="87898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7509841" y="3364992"/>
            <a:ext cx="37671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7798216" y="3364992"/>
            <a:ext cx="25547" cy="16459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426043" y="3342132"/>
            <a:ext cx="288808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0" name="Shape 78"/>
          <p:cNvSpPr/>
          <p:nvPr/>
        </p:nvSpPr>
        <p:spPr>
          <a:xfrm>
            <a:off x="3602924" y="3342132"/>
            <a:ext cx="78805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1" name="Shape 79"/>
          <p:cNvSpPr/>
          <p:nvPr/>
        </p:nvSpPr>
        <p:spPr>
          <a:xfrm>
            <a:off x="4548586" y="3342132"/>
            <a:ext cx="61485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2" name="Shape 80"/>
          <p:cNvSpPr/>
          <p:nvPr/>
        </p:nvSpPr>
        <p:spPr>
          <a:xfrm>
            <a:off x="5481691" y="3342132"/>
            <a:ext cx="5412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3" name="Shape 81"/>
          <p:cNvSpPr/>
          <p:nvPr/>
        </p:nvSpPr>
        <p:spPr>
          <a:xfrm>
            <a:off x="6151102" y="3342132"/>
            <a:ext cx="71877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4" name="Shape 82"/>
          <p:cNvSpPr/>
          <p:nvPr/>
        </p:nvSpPr>
        <p:spPr>
          <a:xfrm>
            <a:off x="7047402" y="3342132"/>
            <a:ext cx="56289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5" name="Shape 83"/>
          <p:cNvSpPr/>
          <p:nvPr/>
        </p:nvSpPr>
        <p:spPr>
          <a:xfrm>
            <a:off x="7191589" y="3342132"/>
            <a:ext cx="318252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6" name="Shape 84"/>
          <p:cNvSpPr/>
          <p:nvPr/>
        </p:nvSpPr>
        <p:spPr>
          <a:xfrm>
            <a:off x="7547511" y="3342132"/>
            <a:ext cx="250704" cy="4114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87" name="Shape 85"/>
          <p:cNvSpPr/>
          <p:nvPr/>
        </p:nvSpPr>
        <p:spPr>
          <a:xfrm>
            <a:off x="2584519" y="3602736"/>
            <a:ext cx="523058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88" name="Shape 86"/>
          <p:cNvSpPr/>
          <p:nvPr/>
        </p:nvSpPr>
        <p:spPr>
          <a:xfrm>
            <a:off x="3603357" y="3602736"/>
            <a:ext cx="527821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89" name="Shape 87"/>
          <p:cNvSpPr/>
          <p:nvPr/>
        </p:nvSpPr>
        <p:spPr>
          <a:xfrm>
            <a:off x="4583226" y="3602736"/>
            <a:ext cx="513965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0" name="Shape 88"/>
          <p:cNvSpPr/>
          <p:nvPr/>
        </p:nvSpPr>
        <p:spPr>
          <a:xfrm>
            <a:off x="6168421" y="3602736"/>
            <a:ext cx="500110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1" name="Shape 89"/>
          <p:cNvSpPr/>
          <p:nvPr/>
        </p:nvSpPr>
        <p:spPr>
          <a:xfrm>
            <a:off x="7191589" y="3602736"/>
            <a:ext cx="317819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2" name="Shape 90"/>
          <p:cNvSpPr/>
          <p:nvPr/>
        </p:nvSpPr>
        <p:spPr>
          <a:xfrm>
            <a:off x="7593409" y="3602736"/>
            <a:ext cx="204807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3" name="Shape 91"/>
          <p:cNvSpPr/>
          <p:nvPr/>
        </p:nvSpPr>
        <p:spPr>
          <a:xfrm>
            <a:off x="8459832" y="3602736"/>
            <a:ext cx="9144" cy="16459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94" name="Text 92"/>
          <p:cNvSpPr/>
          <p:nvPr/>
        </p:nvSpPr>
        <p:spPr>
          <a:xfrm>
            <a:off x="1234440" y="3913632"/>
            <a:ext cx="7360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one backward pass, real kernels (node-level nsys, same node, same bytes) · red = compute stream stalled at a bucket rendezvous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640080" y="411480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No conflict — they compose: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bucket size = how OFTEN compute and reduction rendezvous; reduce_scatter = what each rendezvous COSTS. false makes each AR bigger, strengthening the case for large buckets.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11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 Scaling: Sweet Spot at 24 per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optimized config, only per-GPU batch changes — peak 340 samples/node/s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5840" y="384048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05840" y="322326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1318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14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05840" y="198882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973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" y="137160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80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15875">
            <a:solidFill>
              <a:srgbClr val="5E5E5E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139903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   ·   dashed = 200/node/s target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268730" y="2254225"/>
            <a:ext cx="685800" cy="1586255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7" name="Text 15"/>
          <p:cNvSpPr/>
          <p:nvPr/>
        </p:nvSpPr>
        <p:spPr>
          <a:xfrm>
            <a:off x="1131570" y="1998193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257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3157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585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23.1%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480310" y="1883893"/>
            <a:ext cx="685800" cy="1956587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2343150" y="1627861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317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34315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16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9743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28.4%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91890" y="1741932"/>
            <a:ext cx="685800" cy="20985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Text 23"/>
          <p:cNvSpPr/>
          <p:nvPr/>
        </p:nvSpPr>
        <p:spPr>
          <a:xfrm>
            <a:off x="3554730" y="148590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340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5473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0901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30.5%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903470" y="2235708"/>
            <a:ext cx="685800" cy="1604772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29" name="Text 27"/>
          <p:cNvSpPr/>
          <p:nvPr/>
        </p:nvSpPr>
        <p:spPr>
          <a:xfrm>
            <a:off x="4766310" y="1979676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260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76631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2059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23.3%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51560" y="13990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0" y="1417320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Batching amortizes launch and comm costs: MFU climbs 23% → 30.5%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 regresses hard (986 ms/step): not OOM, not the dataloader — memory-pressure effects under investigation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Larger global batch (192) changes optimization dynamics — needs a convergence run before adoption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What We Ruled Out — and How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Negative results are results: every hypothesis got a same-node experiment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011680"/>
                <a:gridCol w="42519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Hypothesis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Experiment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Verdict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FA2 for the text stack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A/B at seq 192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Slower (+10 ms): unpad/repad overhead exceeds kernel gains at short sequences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“NCCL is misconfigured”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Forced protocols, NCCL_DEBUG, microbenchmark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AllReduce already at 478 GB/s busbw = NVLink ceiling; kernel-name suffix was a red herring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masked_scatter nonzero sync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index_copy patch, bitwise-equal unit test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0 ms: the AllReduce tail is gradient-readiness-bound, so hiding the sync moves nothing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cache still needed?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Toggle at final config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Neutral at the tip (CUDA Graphs hide it) — kept for CPU headroom, one-knob rollback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Whole-model torch.compile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Compile attempts on torch 2.6 &amp; 2.7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Hybrid GDN layers graph-break in dynamo → group-graph capture instead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FlashQLA GDN kernels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Kernel-time ceiling analysis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Only ~10.5 ms/step of GDN time exists; needs torch ≥ 2.8 — deferred, not worth the risk now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8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Remaining Headroom &amp;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Where the next milliseconds live, ranked by ceiling — measured, not guessed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6" name="Image 0" descr="/app/icons/m48-gpu-chip-256px-g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17904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14173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GEMMs at the power wall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[fp8 territory]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143000" y="1682496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Sustained GEMM throughput caps at ~622 TFLOPS on this node (power, not occupancy). The only lever left for the math itself is fp8.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2121408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121408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1" name="Image 1" descr="/app/icons/m48-distributed-learning-256px-g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267712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43000" y="21671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communication (~30-55 ms)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[compression]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143000" y="2432304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Bandwidth is at the NVLink ceiling; bytes are the only lever — 1-bit Adam / gradient compression, with convergence sign-off.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57200" y="2871216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7200" y="2871216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6" name="Image 2" descr="/app/icons/m48-cog-gear-256x-gr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52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43000" y="291693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parameter AllGather (44 ms)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[FSDP or async ZeRO-2]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143000" y="3182112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Optimization shrank compute — the step-end AllGather is now fully exposed and ZeRO-2 cannot overlap it. Adopt FSDP (overlapped unshard) or extend ZeRO-2 with an async parameter gather.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57200" y="3621024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57200" y="3621024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1" name="Image 3" descr="/app/icons/m48-scalability-up-sample-256px-gr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767328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43000" y="366674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Scale-out readiness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[deployment]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1143000" y="393192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 split-topology nodes (4+4 NVLink islands) set NCCL_P2P_LEVEL=NVL — first collective hangs otherwise. bs24 adoption gated on a convergence run.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14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7" name="Image 4" descr="/app/logos/nvidia-logo-blk-s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QwenPI VLA Training Optimization on 8xH200</dc:title>
  <dc:subject>PptxGenJS Presentation</dc:subject>
  <dc:creator>Qihan Kang</dc:creator>
  <cp:lastModifiedBy>Qihan Kang</cp:lastModifiedBy>
  <cp:revision>1</cp:revision>
  <dcterms:created xsi:type="dcterms:W3CDTF">2026-07-22T10:31:09Z</dcterms:created>
  <dcterms:modified xsi:type="dcterms:W3CDTF">2026-07-22T10:31:09Z</dcterms:modified>
</cp:coreProperties>
</file>