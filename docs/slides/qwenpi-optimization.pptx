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bars are real busy intervals from the nsys sqlite export (kernels classified compute vs NCCL vs memcpy).
[IMPORTANT] Key message: this workload was CPU-launch-bound, not GPU-bound. That ordering drives the whole optimization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was a separate 60-step run; deltas are p50-to-p50 on the same node. The next four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items landed as one level (-117 ms), mixed attention as the next (-30 ms).
Mixed attention is a measured trade: full FA2 including text was SLOWER — see the ruled-out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— verified fullgraph fwd+bwd and unchanged loss trajectory.
Group size 8 balances capture memory against launch savings; per-layer compile was ported but the fused graphs replaced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 on 8×H200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profile-driven journey from 800 ms to 249 ms per step (3.2×)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Qihan Kang  |  NVIDIA  |  July 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141155" cy="315468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Real per-stream activity of one baseline step (nsys sqlite, 866 ms wall)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08760" y="1325880"/>
            <a:ext cx="6126480" cy="384048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73655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" name="Shape 5"/>
          <p:cNvSpPr/>
          <p:nvPr/>
        </p:nvSpPr>
        <p:spPr>
          <a:xfrm>
            <a:off x="2112919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Shape 6"/>
          <p:cNvSpPr/>
          <p:nvPr/>
        </p:nvSpPr>
        <p:spPr>
          <a:xfrm>
            <a:off x="2114970" y="1353312"/>
            <a:ext cx="566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7"/>
          <p:cNvSpPr/>
          <p:nvPr/>
        </p:nvSpPr>
        <p:spPr>
          <a:xfrm>
            <a:off x="2123106" y="1353312"/>
            <a:ext cx="2553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Shape 8"/>
          <p:cNvSpPr/>
          <p:nvPr/>
        </p:nvSpPr>
        <p:spPr>
          <a:xfrm>
            <a:off x="2151121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56285" y="135331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" name="Shape 10"/>
          <p:cNvSpPr/>
          <p:nvPr/>
        </p:nvSpPr>
        <p:spPr>
          <a:xfrm>
            <a:off x="2162086" y="1353312"/>
            <a:ext cx="657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0363" y="1353312"/>
            <a:ext cx="1195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4017" y="1353312"/>
            <a:ext cx="1160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7317" y="1353312"/>
            <a:ext cx="1139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2210263" y="135331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2215781" y="1353312"/>
            <a:ext cx="77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225473" y="1353312"/>
            <a:ext cx="502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231133" y="1353312"/>
            <a:ext cx="629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2239127" y="1353312"/>
            <a:ext cx="48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2244504" y="1353312"/>
            <a:ext cx="665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2252993" y="135331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2258723" y="1353312"/>
            <a:ext cx="749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2268061" y="135331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2273580" y="1353312"/>
            <a:ext cx="629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2281574" y="1353312"/>
            <a:ext cx="1231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2296713" y="1353312"/>
            <a:ext cx="516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2302514" y="1353312"/>
            <a:ext cx="665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2310791" y="1353312"/>
            <a:ext cx="1153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2324020" y="1353312"/>
            <a:ext cx="49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2329609" y="1353312"/>
            <a:ext cx="707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338382" y="1353312"/>
            <a:ext cx="49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344041" y="1353312"/>
            <a:ext cx="650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352177" y="1353312"/>
            <a:ext cx="47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357553" y="1353312"/>
            <a:ext cx="622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365830" y="1353312"/>
            <a:ext cx="1273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380262" y="1353312"/>
            <a:ext cx="1139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393350" y="1353312"/>
            <a:ext cx="1117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406013" y="1353312"/>
            <a:ext cx="1131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418889" y="1353312"/>
            <a:ext cx="1181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2432330" y="1353312"/>
            <a:ext cx="48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7707" y="1353312"/>
            <a:ext cx="643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445843" y="1353312"/>
            <a:ext cx="1188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459921" y="1353312"/>
            <a:ext cx="1209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473928" y="1353312"/>
            <a:ext cx="48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479376" y="135331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485389" y="1353312"/>
            <a:ext cx="566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492534" y="1353312"/>
            <a:ext cx="4138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534556" y="1353312"/>
            <a:ext cx="1811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555072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560307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563066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565542" y="135331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574244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580682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583229" y="1353312"/>
            <a:ext cx="905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595750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598368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601834" y="1353312"/>
            <a:ext cx="1054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615488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621006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623836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627585" y="1353312"/>
            <a:ext cx="2065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650719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656874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659279" y="1353312"/>
            <a:ext cx="841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67010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672862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676116" y="1353312"/>
            <a:ext cx="1131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690619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693095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696915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699603" y="1353312"/>
            <a:ext cx="1782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718138" y="1353312"/>
            <a:ext cx="509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72620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728538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735188" y="1353312"/>
            <a:ext cx="1032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748488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754006" y="1353312"/>
            <a:ext cx="1011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76702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769358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772400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774876" y="135331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790581" y="1353312"/>
            <a:ext cx="806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801405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806145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808762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812370" y="1353312"/>
            <a:ext cx="1039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825034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830764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833664" y="1353312"/>
            <a:ext cx="933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846328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851633" y="1353312"/>
            <a:ext cx="2377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877667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880427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883539" y="1353312"/>
            <a:ext cx="1082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897051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903065" y="1353312"/>
            <a:ext cx="1018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915304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921105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23651" y="1353312"/>
            <a:ext cx="1358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937800" y="1353312"/>
            <a:ext cx="742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948129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950888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954001" y="1353312"/>
            <a:ext cx="1018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96652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972111" y="1353312"/>
            <a:ext cx="997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984280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989939" y="1353312"/>
            <a:ext cx="2384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16751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21916" y="1353312"/>
            <a:ext cx="990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03401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039673" y="1353312"/>
            <a:ext cx="955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052407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057642" y="1353312"/>
            <a:ext cx="2115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080987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086435" y="1353312"/>
            <a:ext cx="919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096410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102564" y="1353312"/>
            <a:ext cx="856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111832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17562" y="1353312"/>
            <a:ext cx="3508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154067" y="1353312"/>
            <a:ext cx="47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160292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162697" y="1353312"/>
            <a:ext cx="1025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173875" y="1353312"/>
            <a:ext cx="255168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727896" y="1353312"/>
            <a:ext cx="53631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266191" y="1353312"/>
            <a:ext cx="1266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285292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29010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29201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296965" y="1353312"/>
            <a:ext cx="870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306657" y="1353312"/>
            <a:ext cx="209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32816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33007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335308" y="1353312"/>
            <a:ext cx="4046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379029" y="1353312"/>
            <a:ext cx="459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385396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387306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389994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392046" y="1353312"/>
            <a:ext cx="1252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411430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415108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416806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9495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21546" y="1353312"/>
            <a:ext cx="1245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5554" y="1353312"/>
            <a:ext cx="2115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57484" y="1353312"/>
            <a:ext cx="2016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478354" y="1353312"/>
            <a:ext cx="1301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492149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93918" y="1353312"/>
            <a:ext cx="474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00002" y="1353312"/>
            <a:ext cx="1245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13160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514787" y="1353312"/>
            <a:ext cx="459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520659" y="1353312"/>
            <a:ext cx="1209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3332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35020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540751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544076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546623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549877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551716" y="1353312"/>
            <a:ext cx="665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561196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585956" y="1353312"/>
            <a:ext cx="457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591050" y="1353312"/>
            <a:ext cx="1153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03218" y="1353312"/>
            <a:ext cx="530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609656" y="1353312"/>
            <a:ext cx="1542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626069" y="1353312"/>
            <a:ext cx="153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642340" y="1353312"/>
            <a:ext cx="1549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658965" y="1353312"/>
            <a:ext cx="1556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675590" y="1353312"/>
            <a:ext cx="1634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692993" y="1353312"/>
            <a:ext cx="1563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709689" y="1353312"/>
            <a:ext cx="1513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725748" y="1353312"/>
            <a:ext cx="1450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42656" y="1353312"/>
            <a:ext cx="15705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759422" y="1353312"/>
            <a:ext cx="152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775623" y="1353312"/>
            <a:ext cx="1528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91823" y="135331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807953" y="135331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23941" y="1353312"/>
            <a:ext cx="1492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39859" y="1353312"/>
            <a:ext cx="14856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55706" y="1353312"/>
            <a:ext cx="15069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71835" y="1353312"/>
            <a:ext cx="14927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87611" y="1353312"/>
            <a:ext cx="1499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03600" y="1353312"/>
            <a:ext cx="10824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15202" y="1353312"/>
            <a:ext cx="6721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922630" y="1353312"/>
            <a:ext cx="17403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984956" y="1353312"/>
            <a:ext cx="153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061289" y="1353312"/>
            <a:ext cx="67420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30902" y="1353312"/>
            <a:ext cx="23558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158280" y="1353312"/>
            <a:ext cx="127552" cy="32918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1" name="Text 189"/>
          <p:cNvSpPr/>
          <p:nvPr/>
        </p:nvSpPr>
        <p:spPr>
          <a:xfrm>
            <a:off x="7671816" y="13258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544 ms · 63%</a:t>
            </a:r>
            <a:endParaRPr lang="en-US" sz="900" dirty="0"/>
          </a:p>
        </p:txBody>
      </p:sp>
      <p:sp>
        <p:nvSpPr>
          <p:cNvPr id="192" name="Text 190"/>
          <p:cNvSpPr/>
          <p:nvPr/>
        </p:nvSpPr>
        <p:spPr>
          <a:xfrm>
            <a:off x="457200" y="1801368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93" name="Shape 191"/>
          <p:cNvSpPr/>
          <p:nvPr/>
        </p:nvSpPr>
        <p:spPr>
          <a:xfrm>
            <a:off x="1508760" y="1801368"/>
            <a:ext cx="6126480" cy="384048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4308689" y="1828800"/>
            <a:ext cx="27307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5" name="Shape 193"/>
          <p:cNvSpPr/>
          <p:nvPr/>
        </p:nvSpPr>
        <p:spPr>
          <a:xfrm>
            <a:off x="4589615" y="1828800"/>
            <a:ext cx="2851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6" name="Shape 194"/>
          <p:cNvSpPr/>
          <p:nvPr/>
        </p:nvSpPr>
        <p:spPr>
          <a:xfrm>
            <a:off x="4879951" y="1828800"/>
            <a:ext cx="27095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38240" y="1828800"/>
            <a:ext cx="26812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8" name="Shape 196"/>
          <p:cNvSpPr/>
          <p:nvPr/>
        </p:nvSpPr>
        <p:spPr>
          <a:xfrm>
            <a:off x="5418247" y="1828800"/>
            <a:ext cx="28298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694433" y="1828800"/>
            <a:ext cx="30774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801328" y="1828800"/>
            <a:ext cx="40112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1" name="Shape 199"/>
          <p:cNvSpPr/>
          <p:nvPr/>
        </p:nvSpPr>
        <p:spPr>
          <a:xfrm>
            <a:off x="5901291" y="1828800"/>
            <a:ext cx="40466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006771" y="1828800"/>
            <a:ext cx="40254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104681" y="1828800"/>
            <a:ext cx="41103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204148" y="1828800"/>
            <a:ext cx="4089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18825" y="1828800"/>
            <a:ext cx="3990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48641" y="1828800"/>
            <a:ext cx="29500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940033" y="1828800"/>
            <a:ext cx="20233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8" name="Shape 206"/>
          <p:cNvSpPr/>
          <p:nvPr/>
        </p:nvSpPr>
        <p:spPr>
          <a:xfrm>
            <a:off x="7011202" y="1828800"/>
            <a:ext cx="33391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285833" y="1828800"/>
            <a:ext cx="310498" cy="32918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0" name="Text 208"/>
          <p:cNvSpPr/>
          <p:nvPr/>
        </p:nvSpPr>
        <p:spPr>
          <a:xfrm>
            <a:off x="7671816" y="18013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114 ms · 13%</a:t>
            </a:r>
            <a:endParaRPr lang="en-US" sz="900" dirty="0"/>
          </a:p>
        </p:txBody>
      </p:sp>
      <p:sp>
        <p:nvSpPr>
          <p:cNvPr id="211" name="Text 209"/>
          <p:cNvSpPr/>
          <p:nvPr/>
        </p:nvSpPr>
        <p:spPr>
          <a:xfrm>
            <a:off x="457200" y="2276856"/>
            <a:ext cx="97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Memcpy</a:t>
            </a:r>
            <a:endParaRPr lang="en-US" sz="1000" dirty="0"/>
          </a:p>
        </p:txBody>
      </p:sp>
      <p:sp>
        <p:nvSpPr>
          <p:cNvPr id="212" name="Shape 210"/>
          <p:cNvSpPr/>
          <p:nvPr/>
        </p:nvSpPr>
        <p:spPr>
          <a:xfrm>
            <a:off x="1508760" y="2276856"/>
            <a:ext cx="6126480" cy="384048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020951" y="2304288"/>
            <a:ext cx="20304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14" name="Shape 212"/>
          <p:cNvSpPr/>
          <p:nvPr/>
        </p:nvSpPr>
        <p:spPr>
          <a:xfrm>
            <a:off x="2114617" y="2304288"/>
            <a:ext cx="5447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15" name="Shape 213"/>
          <p:cNvSpPr/>
          <p:nvPr/>
        </p:nvSpPr>
        <p:spPr>
          <a:xfrm>
            <a:off x="215451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16" name="Shape 214"/>
          <p:cNvSpPr/>
          <p:nvPr/>
        </p:nvSpPr>
        <p:spPr>
          <a:xfrm>
            <a:off x="216880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17" name="Shape 215"/>
          <p:cNvSpPr/>
          <p:nvPr/>
        </p:nvSpPr>
        <p:spPr>
          <a:xfrm>
            <a:off x="218246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18" name="Shape 216"/>
          <p:cNvSpPr/>
          <p:nvPr/>
        </p:nvSpPr>
        <p:spPr>
          <a:xfrm>
            <a:off x="219576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19" name="Shape 217"/>
          <p:cNvSpPr/>
          <p:nvPr/>
        </p:nvSpPr>
        <p:spPr>
          <a:xfrm>
            <a:off x="220884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20" name="Shape 218"/>
          <p:cNvSpPr/>
          <p:nvPr/>
        </p:nvSpPr>
        <p:spPr>
          <a:xfrm>
            <a:off x="222370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21" name="Shape 219"/>
          <p:cNvSpPr/>
          <p:nvPr/>
        </p:nvSpPr>
        <p:spPr>
          <a:xfrm>
            <a:off x="223757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22" name="Shape 220"/>
          <p:cNvSpPr/>
          <p:nvPr/>
        </p:nvSpPr>
        <p:spPr>
          <a:xfrm>
            <a:off x="225136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23" name="Shape 221"/>
          <p:cNvSpPr/>
          <p:nvPr/>
        </p:nvSpPr>
        <p:spPr>
          <a:xfrm>
            <a:off x="226643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24" name="Shape 222"/>
          <p:cNvSpPr/>
          <p:nvPr/>
        </p:nvSpPr>
        <p:spPr>
          <a:xfrm>
            <a:off x="228008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25" name="Shape 223"/>
          <p:cNvSpPr/>
          <p:nvPr/>
        </p:nvSpPr>
        <p:spPr>
          <a:xfrm>
            <a:off x="229409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26" name="Shape 224"/>
          <p:cNvSpPr/>
          <p:nvPr/>
        </p:nvSpPr>
        <p:spPr>
          <a:xfrm>
            <a:off x="230930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27" name="Shape 225"/>
          <p:cNvSpPr/>
          <p:nvPr/>
        </p:nvSpPr>
        <p:spPr>
          <a:xfrm>
            <a:off x="232253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28" name="Shape 226"/>
          <p:cNvSpPr/>
          <p:nvPr/>
        </p:nvSpPr>
        <p:spPr>
          <a:xfrm>
            <a:off x="233689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29" name="Shape 227"/>
          <p:cNvSpPr/>
          <p:nvPr/>
        </p:nvSpPr>
        <p:spPr>
          <a:xfrm>
            <a:off x="235069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0" name="Shape 228"/>
          <p:cNvSpPr/>
          <p:nvPr/>
        </p:nvSpPr>
        <p:spPr>
          <a:xfrm>
            <a:off x="236399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1" name="Shape 229"/>
          <p:cNvSpPr/>
          <p:nvPr/>
        </p:nvSpPr>
        <p:spPr>
          <a:xfrm>
            <a:off x="237877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2" name="Shape 230"/>
          <p:cNvSpPr/>
          <p:nvPr/>
        </p:nvSpPr>
        <p:spPr>
          <a:xfrm>
            <a:off x="239179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3" name="Shape 231"/>
          <p:cNvSpPr/>
          <p:nvPr/>
        </p:nvSpPr>
        <p:spPr>
          <a:xfrm>
            <a:off x="240466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4" name="Shape 232"/>
          <p:cNvSpPr/>
          <p:nvPr/>
        </p:nvSpPr>
        <p:spPr>
          <a:xfrm>
            <a:off x="241747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5" name="Shape 233"/>
          <p:cNvSpPr/>
          <p:nvPr/>
        </p:nvSpPr>
        <p:spPr>
          <a:xfrm>
            <a:off x="243084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6" name="Shape 234"/>
          <p:cNvSpPr/>
          <p:nvPr/>
        </p:nvSpPr>
        <p:spPr>
          <a:xfrm>
            <a:off x="244435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7" name="Shape 235"/>
          <p:cNvSpPr/>
          <p:nvPr/>
        </p:nvSpPr>
        <p:spPr>
          <a:xfrm>
            <a:off x="245794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8" name="Shape 236"/>
          <p:cNvSpPr/>
          <p:nvPr/>
        </p:nvSpPr>
        <p:spPr>
          <a:xfrm>
            <a:off x="247223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9" name="Shape 237"/>
          <p:cNvSpPr/>
          <p:nvPr/>
        </p:nvSpPr>
        <p:spPr>
          <a:xfrm>
            <a:off x="248673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40" name="Shape 238"/>
          <p:cNvSpPr/>
          <p:nvPr/>
        </p:nvSpPr>
        <p:spPr>
          <a:xfrm>
            <a:off x="249012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41" name="Shape 239"/>
          <p:cNvSpPr/>
          <p:nvPr/>
        </p:nvSpPr>
        <p:spPr>
          <a:xfrm>
            <a:off x="249380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249911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250215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250604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251022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251432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251821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2522035" y="2304288"/>
            <a:ext cx="6509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2529675" y="2304288"/>
            <a:ext cx="17615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2548422" y="2304288"/>
            <a:ext cx="5377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407551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413395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417307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423157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427091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434880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438749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444543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448420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454207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459265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465590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469453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475239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479102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484882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90725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96512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500375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506162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510025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517799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521669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4" name="Shape 272"/>
          <p:cNvSpPr/>
          <p:nvPr/>
        </p:nvSpPr>
        <p:spPr>
          <a:xfrm>
            <a:off x="527456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5" name="Shape 273"/>
          <p:cNvSpPr/>
          <p:nvPr/>
        </p:nvSpPr>
        <p:spPr>
          <a:xfrm>
            <a:off x="531319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6" name="Shape 274"/>
          <p:cNvSpPr/>
          <p:nvPr/>
        </p:nvSpPr>
        <p:spPr>
          <a:xfrm>
            <a:off x="537106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7" name="Shape 275"/>
          <p:cNvSpPr/>
          <p:nvPr/>
        </p:nvSpPr>
        <p:spPr>
          <a:xfrm>
            <a:off x="542128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48432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9" name="Shape 277"/>
          <p:cNvSpPr/>
          <p:nvPr/>
        </p:nvSpPr>
        <p:spPr>
          <a:xfrm>
            <a:off x="552294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80" name="Shape 278"/>
          <p:cNvSpPr/>
          <p:nvPr/>
        </p:nvSpPr>
        <p:spPr>
          <a:xfrm>
            <a:off x="558081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61951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82" name="Shape 280"/>
          <p:cNvSpPr/>
          <p:nvPr/>
        </p:nvSpPr>
        <p:spPr>
          <a:xfrm>
            <a:off x="567745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83" name="Shape 281"/>
          <p:cNvSpPr/>
          <p:nvPr/>
        </p:nvSpPr>
        <p:spPr>
          <a:xfrm>
            <a:off x="569591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84" name="Shape 282"/>
          <p:cNvSpPr/>
          <p:nvPr/>
        </p:nvSpPr>
        <p:spPr>
          <a:xfrm>
            <a:off x="570985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85" name="Shape 283"/>
          <p:cNvSpPr/>
          <p:nvPr/>
        </p:nvSpPr>
        <p:spPr>
          <a:xfrm>
            <a:off x="571855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86" name="Shape 284"/>
          <p:cNvSpPr/>
          <p:nvPr/>
        </p:nvSpPr>
        <p:spPr>
          <a:xfrm>
            <a:off x="5725066" y="2304288"/>
            <a:ext cx="9551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73631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74190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74536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75216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75775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76121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76800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77586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78109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80288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81102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81646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82736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83592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84129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84816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5367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85707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86393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87179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87702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88374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90405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90999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92117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92973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93588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4472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5024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95371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96050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96835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19" name="Shape 317"/>
          <p:cNvSpPr/>
          <p:nvPr/>
        </p:nvSpPr>
        <p:spPr>
          <a:xfrm>
            <a:off x="597359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20" name="Shape 318"/>
          <p:cNvSpPr/>
          <p:nvPr/>
        </p:nvSpPr>
        <p:spPr>
          <a:xfrm>
            <a:off x="598031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21" name="Shape 319"/>
          <p:cNvSpPr/>
          <p:nvPr/>
        </p:nvSpPr>
        <p:spPr>
          <a:xfrm>
            <a:off x="598590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22" name="Shape 320"/>
          <p:cNvSpPr/>
          <p:nvPr/>
        </p:nvSpPr>
        <p:spPr>
          <a:xfrm>
            <a:off x="598929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01108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01936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02495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03591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04476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04879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05565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06357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06874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07546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08098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08444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09972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11041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11798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12753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13580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14076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41" name="Shape 339"/>
          <p:cNvSpPr/>
          <p:nvPr/>
        </p:nvSpPr>
        <p:spPr>
          <a:xfrm>
            <a:off x="614833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15568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43" name="Shape 341"/>
          <p:cNvSpPr/>
          <p:nvPr/>
        </p:nvSpPr>
        <p:spPr>
          <a:xfrm>
            <a:off x="616056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44" name="Shape 342"/>
          <p:cNvSpPr/>
          <p:nvPr/>
        </p:nvSpPr>
        <p:spPr>
          <a:xfrm>
            <a:off x="616707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45" name="Shape 343"/>
          <p:cNvSpPr/>
          <p:nvPr/>
        </p:nvSpPr>
        <p:spPr>
          <a:xfrm>
            <a:off x="617238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46" name="Shape 344"/>
          <p:cNvSpPr/>
          <p:nvPr/>
        </p:nvSpPr>
        <p:spPr>
          <a:xfrm>
            <a:off x="617577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18264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18816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20195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21115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21914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22487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53" name="Shape 351"/>
          <p:cNvSpPr/>
          <p:nvPr/>
        </p:nvSpPr>
        <p:spPr>
          <a:xfrm>
            <a:off x="623555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54" name="Shape 352"/>
          <p:cNvSpPr/>
          <p:nvPr/>
        </p:nvSpPr>
        <p:spPr>
          <a:xfrm>
            <a:off x="624610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25098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56" name="Shape 354"/>
          <p:cNvSpPr/>
          <p:nvPr/>
        </p:nvSpPr>
        <p:spPr>
          <a:xfrm>
            <a:off x="625748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57" name="Shape 355"/>
          <p:cNvSpPr/>
          <p:nvPr/>
        </p:nvSpPr>
        <p:spPr>
          <a:xfrm>
            <a:off x="626449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58" name="Shape 356"/>
          <p:cNvSpPr/>
          <p:nvPr/>
        </p:nvSpPr>
        <p:spPr>
          <a:xfrm>
            <a:off x="627666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59" name="Shape 357"/>
          <p:cNvSpPr/>
          <p:nvPr/>
        </p:nvSpPr>
        <p:spPr>
          <a:xfrm>
            <a:off x="629173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0" name="Shape 358"/>
          <p:cNvSpPr/>
          <p:nvPr/>
        </p:nvSpPr>
        <p:spPr>
          <a:xfrm>
            <a:off x="629526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1" name="Shape 359"/>
          <p:cNvSpPr/>
          <p:nvPr/>
        </p:nvSpPr>
        <p:spPr>
          <a:xfrm>
            <a:off x="629958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2" name="Shape 360"/>
          <p:cNvSpPr/>
          <p:nvPr/>
        </p:nvSpPr>
        <p:spPr>
          <a:xfrm>
            <a:off x="632031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3" name="Shape 361"/>
          <p:cNvSpPr/>
          <p:nvPr/>
        </p:nvSpPr>
        <p:spPr>
          <a:xfrm>
            <a:off x="632979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4" name="Shape 362"/>
          <p:cNvSpPr/>
          <p:nvPr/>
        </p:nvSpPr>
        <p:spPr>
          <a:xfrm>
            <a:off x="633375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5" name="Shape 363"/>
          <p:cNvSpPr/>
          <p:nvPr/>
        </p:nvSpPr>
        <p:spPr>
          <a:xfrm>
            <a:off x="633905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6" name="Shape 364"/>
          <p:cNvSpPr/>
          <p:nvPr/>
        </p:nvSpPr>
        <p:spPr>
          <a:xfrm>
            <a:off x="634952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7" name="Shape 365"/>
          <p:cNvSpPr/>
          <p:nvPr/>
        </p:nvSpPr>
        <p:spPr>
          <a:xfrm>
            <a:off x="636006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8" name="Shape 366"/>
          <p:cNvSpPr/>
          <p:nvPr/>
        </p:nvSpPr>
        <p:spPr>
          <a:xfrm>
            <a:off x="636261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9" name="Shape 367"/>
          <p:cNvSpPr/>
          <p:nvPr/>
        </p:nvSpPr>
        <p:spPr>
          <a:xfrm>
            <a:off x="636622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70" name="Shape 368"/>
          <p:cNvSpPr/>
          <p:nvPr/>
        </p:nvSpPr>
        <p:spPr>
          <a:xfrm>
            <a:off x="637365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71" name="Shape 369"/>
          <p:cNvSpPr/>
          <p:nvPr/>
        </p:nvSpPr>
        <p:spPr>
          <a:xfrm>
            <a:off x="638709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72" name="Shape 370"/>
          <p:cNvSpPr/>
          <p:nvPr/>
        </p:nvSpPr>
        <p:spPr>
          <a:xfrm>
            <a:off x="639056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73" name="Shape 371"/>
          <p:cNvSpPr/>
          <p:nvPr/>
        </p:nvSpPr>
        <p:spPr>
          <a:xfrm>
            <a:off x="639459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74" name="Shape 372"/>
          <p:cNvSpPr/>
          <p:nvPr/>
        </p:nvSpPr>
        <p:spPr>
          <a:xfrm>
            <a:off x="640237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75" name="Shape 373"/>
          <p:cNvSpPr/>
          <p:nvPr/>
        </p:nvSpPr>
        <p:spPr>
          <a:xfrm>
            <a:off x="641659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76" name="Shape 374"/>
          <p:cNvSpPr/>
          <p:nvPr/>
        </p:nvSpPr>
        <p:spPr>
          <a:xfrm>
            <a:off x="642006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77" name="Shape 375"/>
          <p:cNvSpPr/>
          <p:nvPr/>
        </p:nvSpPr>
        <p:spPr>
          <a:xfrm>
            <a:off x="643187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78" name="Shape 376"/>
          <p:cNvSpPr/>
          <p:nvPr/>
        </p:nvSpPr>
        <p:spPr>
          <a:xfrm>
            <a:off x="645578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79" name="Shape 377"/>
          <p:cNvSpPr/>
          <p:nvPr/>
        </p:nvSpPr>
        <p:spPr>
          <a:xfrm>
            <a:off x="646180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80" name="Shape 378"/>
          <p:cNvSpPr/>
          <p:nvPr/>
        </p:nvSpPr>
        <p:spPr>
          <a:xfrm>
            <a:off x="647050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81" name="Shape 379"/>
          <p:cNvSpPr/>
          <p:nvPr/>
        </p:nvSpPr>
        <p:spPr>
          <a:xfrm>
            <a:off x="647587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82" name="Shape 380"/>
          <p:cNvSpPr/>
          <p:nvPr/>
        </p:nvSpPr>
        <p:spPr>
          <a:xfrm>
            <a:off x="649625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83" name="Shape 381"/>
          <p:cNvSpPr/>
          <p:nvPr/>
        </p:nvSpPr>
        <p:spPr>
          <a:xfrm>
            <a:off x="651259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84" name="Shape 382"/>
          <p:cNvSpPr/>
          <p:nvPr/>
        </p:nvSpPr>
        <p:spPr>
          <a:xfrm>
            <a:off x="651705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85" name="Shape 383"/>
          <p:cNvSpPr/>
          <p:nvPr/>
        </p:nvSpPr>
        <p:spPr>
          <a:xfrm>
            <a:off x="653275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86" name="Shape 384"/>
          <p:cNvSpPr/>
          <p:nvPr/>
        </p:nvSpPr>
        <p:spPr>
          <a:xfrm>
            <a:off x="653721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87" name="Shape 385"/>
          <p:cNvSpPr/>
          <p:nvPr/>
        </p:nvSpPr>
        <p:spPr>
          <a:xfrm>
            <a:off x="655964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88" name="Shape 386"/>
          <p:cNvSpPr/>
          <p:nvPr/>
        </p:nvSpPr>
        <p:spPr>
          <a:xfrm>
            <a:off x="658850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89" name="Shape 387"/>
          <p:cNvSpPr/>
          <p:nvPr/>
        </p:nvSpPr>
        <p:spPr>
          <a:xfrm>
            <a:off x="660272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90" name="Shape 388"/>
          <p:cNvSpPr/>
          <p:nvPr/>
        </p:nvSpPr>
        <p:spPr>
          <a:xfrm>
            <a:off x="660675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91" name="Shape 389"/>
          <p:cNvSpPr/>
          <p:nvPr/>
        </p:nvSpPr>
        <p:spPr>
          <a:xfrm>
            <a:off x="661970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92" name="Shape 390"/>
          <p:cNvSpPr/>
          <p:nvPr/>
        </p:nvSpPr>
        <p:spPr>
          <a:xfrm>
            <a:off x="662338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93" name="Shape 391"/>
          <p:cNvSpPr/>
          <p:nvPr/>
        </p:nvSpPr>
        <p:spPr>
          <a:xfrm>
            <a:off x="663604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94" name="Shape 392"/>
          <p:cNvSpPr/>
          <p:nvPr/>
        </p:nvSpPr>
        <p:spPr>
          <a:xfrm>
            <a:off x="663873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95" name="Shape 393"/>
          <p:cNvSpPr/>
          <p:nvPr/>
        </p:nvSpPr>
        <p:spPr>
          <a:xfrm>
            <a:off x="665238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96" name="Shape 394"/>
          <p:cNvSpPr/>
          <p:nvPr/>
        </p:nvSpPr>
        <p:spPr>
          <a:xfrm>
            <a:off x="665620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97" name="Shape 395"/>
          <p:cNvSpPr/>
          <p:nvPr/>
        </p:nvSpPr>
        <p:spPr>
          <a:xfrm>
            <a:off x="666886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98" name="Shape 396"/>
          <p:cNvSpPr/>
          <p:nvPr/>
        </p:nvSpPr>
        <p:spPr>
          <a:xfrm>
            <a:off x="667240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99" name="Shape 397"/>
          <p:cNvSpPr/>
          <p:nvPr/>
        </p:nvSpPr>
        <p:spPr>
          <a:xfrm>
            <a:off x="668613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00" name="Shape 398"/>
          <p:cNvSpPr/>
          <p:nvPr/>
        </p:nvSpPr>
        <p:spPr>
          <a:xfrm>
            <a:off x="669016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01" name="Shape 399"/>
          <p:cNvSpPr/>
          <p:nvPr/>
        </p:nvSpPr>
        <p:spPr>
          <a:xfrm>
            <a:off x="670332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02" name="Shape 400"/>
          <p:cNvSpPr/>
          <p:nvPr/>
        </p:nvSpPr>
        <p:spPr>
          <a:xfrm>
            <a:off x="6707000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03" name="Shape 401"/>
          <p:cNvSpPr/>
          <p:nvPr/>
        </p:nvSpPr>
        <p:spPr>
          <a:xfrm>
            <a:off x="671966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04" name="Shape 402"/>
          <p:cNvSpPr/>
          <p:nvPr/>
        </p:nvSpPr>
        <p:spPr>
          <a:xfrm>
            <a:off x="6723201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05" name="Shape 403"/>
          <p:cNvSpPr/>
          <p:nvPr/>
        </p:nvSpPr>
        <p:spPr>
          <a:xfrm>
            <a:off x="673572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06" name="Shape 404"/>
          <p:cNvSpPr/>
          <p:nvPr/>
        </p:nvSpPr>
        <p:spPr>
          <a:xfrm>
            <a:off x="673947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07" name="Shape 405"/>
          <p:cNvSpPr/>
          <p:nvPr/>
        </p:nvSpPr>
        <p:spPr>
          <a:xfrm>
            <a:off x="675298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08" name="Shape 406"/>
          <p:cNvSpPr/>
          <p:nvPr/>
        </p:nvSpPr>
        <p:spPr>
          <a:xfrm>
            <a:off x="675673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09" name="Shape 407"/>
          <p:cNvSpPr/>
          <p:nvPr/>
        </p:nvSpPr>
        <p:spPr>
          <a:xfrm>
            <a:off x="676939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10" name="Shape 408"/>
          <p:cNvSpPr/>
          <p:nvPr/>
        </p:nvSpPr>
        <p:spPr>
          <a:xfrm>
            <a:off x="677300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11" name="Shape 409"/>
          <p:cNvSpPr/>
          <p:nvPr/>
        </p:nvSpPr>
        <p:spPr>
          <a:xfrm>
            <a:off x="678559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12" name="Shape 410"/>
          <p:cNvSpPr/>
          <p:nvPr/>
        </p:nvSpPr>
        <p:spPr>
          <a:xfrm>
            <a:off x="678934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13" name="Shape 411"/>
          <p:cNvSpPr/>
          <p:nvPr/>
        </p:nvSpPr>
        <p:spPr>
          <a:xfrm>
            <a:off x="680172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14" name="Shape 412"/>
          <p:cNvSpPr/>
          <p:nvPr/>
        </p:nvSpPr>
        <p:spPr>
          <a:xfrm>
            <a:off x="680533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15" name="Shape 413"/>
          <p:cNvSpPr/>
          <p:nvPr/>
        </p:nvSpPr>
        <p:spPr>
          <a:xfrm>
            <a:off x="6817786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16" name="Shape 414"/>
          <p:cNvSpPr/>
          <p:nvPr/>
        </p:nvSpPr>
        <p:spPr>
          <a:xfrm>
            <a:off x="682139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17" name="Shape 415"/>
          <p:cNvSpPr/>
          <p:nvPr/>
        </p:nvSpPr>
        <p:spPr>
          <a:xfrm>
            <a:off x="683370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18" name="Shape 416"/>
          <p:cNvSpPr/>
          <p:nvPr/>
        </p:nvSpPr>
        <p:spPr>
          <a:xfrm>
            <a:off x="683731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19" name="Shape 417"/>
          <p:cNvSpPr/>
          <p:nvPr/>
        </p:nvSpPr>
        <p:spPr>
          <a:xfrm>
            <a:off x="684962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0" name="Shape 418"/>
          <p:cNvSpPr/>
          <p:nvPr/>
        </p:nvSpPr>
        <p:spPr>
          <a:xfrm>
            <a:off x="6853159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1" name="Shape 419"/>
          <p:cNvSpPr/>
          <p:nvPr/>
        </p:nvSpPr>
        <p:spPr>
          <a:xfrm>
            <a:off x="686546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2" name="Shape 420"/>
          <p:cNvSpPr/>
          <p:nvPr/>
        </p:nvSpPr>
        <p:spPr>
          <a:xfrm>
            <a:off x="6869147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3" name="Shape 421"/>
          <p:cNvSpPr/>
          <p:nvPr/>
        </p:nvSpPr>
        <p:spPr>
          <a:xfrm>
            <a:off x="6881598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4" name="Shape 422"/>
          <p:cNvSpPr/>
          <p:nvPr/>
        </p:nvSpPr>
        <p:spPr>
          <a:xfrm>
            <a:off x="688513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5" name="Shape 423"/>
          <p:cNvSpPr/>
          <p:nvPr/>
        </p:nvSpPr>
        <p:spPr>
          <a:xfrm>
            <a:off x="6897445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6" name="Shape 424"/>
          <p:cNvSpPr/>
          <p:nvPr/>
        </p:nvSpPr>
        <p:spPr>
          <a:xfrm>
            <a:off x="6901053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7" name="Shape 425"/>
          <p:cNvSpPr/>
          <p:nvPr/>
        </p:nvSpPr>
        <p:spPr>
          <a:xfrm>
            <a:off x="6913362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8" name="Shape 426"/>
          <p:cNvSpPr/>
          <p:nvPr/>
        </p:nvSpPr>
        <p:spPr>
          <a:xfrm>
            <a:off x="6919234" y="2304288"/>
            <a:ext cx="4572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9" name="Shape 427"/>
          <p:cNvSpPr/>
          <p:nvPr/>
        </p:nvSpPr>
        <p:spPr>
          <a:xfrm>
            <a:off x="6960266" y="2304288"/>
            <a:ext cx="9904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30" name="Shape 428"/>
          <p:cNvSpPr/>
          <p:nvPr/>
        </p:nvSpPr>
        <p:spPr>
          <a:xfrm>
            <a:off x="7044664" y="2304288"/>
            <a:ext cx="5801" cy="32918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31" name="Text 429"/>
          <p:cNvSpPr/>
          <p:nvPr/>
        </p:nvSpPr>
        <p:spPr>
          <a:xfrm>
            <a:off x="7671816" y="227685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16 ms · 2%</a:t>
            </a:r>
            <a:endParaRPr lang="en-US" sz="900" dirty="0"/>
          </a:p>
        </p:txBody>
      </p:sp>
      <p:sp>
        <p:nvSpPr>
          <p:cNvPr id="432" name="Shape 430"/>
          <p:cNvSpPr/>
          <p:nvPr/>
        </p:nvSpPr>
        <p:spPr>
          <a:xfrm>
            <a:off x="1508760" y="277063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1508760" y="277063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34" name="Text 432"/>
          <p:cNvSpPr/>
          <p:nvPr/>
        </p:nvSpPr>
        <p:spPr>
          <a:xfrm>
            <a:off x="1234440" y="28163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435" name="Shape 433"/>
          <p:cNvSpPr/>
          <p:nvPr/>
        </p:nvSpPr>
        <p:spPr>
          <a:xfrm>
            <a:off x="2923651" y="277063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36" name="Text 434"/>
          <p:cNvSpPr/>
          <p:nvPr/>
        </p:nvSpPr>
        <p:spPr>
          <a:xfrm>
            <a:off x="2649331" y="28163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437" name="Shape 435"/>
          <p:cNvSpPr/>
          <p:nvPr/>
        </p:nvSpPr>
        <p:spPr>
          <a:xfrm>
            <a:off x="4338543" y="277063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38" name="Text 436"/>
          <p:cNvSpPr/>
          <p:nvPr/>
        </p:nvSpPr>
        <p:spPr>
          <a:xfrm>
            <a:off x="4064223" y="28163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439" name="Shape 437"/>
          <p:cNvSpPr/>
          <p:nvPr/>
        </p:nvSpPr>
        <p:spPr>
          <a:xfrm>
            <a:off x="5753434" y="277063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40" name="Text 438"/>
          <p:cNvSpPr/>
          <p:nvPr/>
        </p:nvSpPr>
        <p:spPr>
          <a:xfrm>
            <a:off x="5479114" y="28163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441" name="Shape 439"/>
          <p:cNvSpPr/>
          <p:nvPr/>
        </p:nvSpPr>
        <p:spPr>
          <a:xfrm>
            <a:off x="7168326" y="277063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42" name="Text 440"/>
          <p:cNvSpPr/>
          <p:nvPr/>
        </p:nvSpPr>
        <p:spPr>
          <a:xfrm>
            <a:off x="6894006" y="28163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443" name="Text 441"/>
          <p:cNvSpPr/>
          <p:nvPr/>
        </p:nvSpPr>
        <p:spPr>
          <a:xfrm>
            <a:off x="5806440" y="29718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444" name="Shape 442"/>
          <p:cNvSpPr/>
          <p:nvPr/>
        </p:nvSpPr>
        <p:spPr>
          <a:xfrm>
            <a:off x="457200" y="3291840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5" name="Text 443"/>
          <p:cNvSpPr/>
          <p:nvPr/>
        </p:nvSpPr>
        <p:spPr>
          <a:xfrm>
            <a:off x="621792" y="32735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29% pure GPU idle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254 ms with no kernel on any stream — the GPU waits for the CPU</a:t>
            </a:r>
            <a:endParaRPr lang="en-US" sz="1050" dirty="0"/>
          </a:p>
        </p:txBody>
      </p:sp>
      <p:sp>
        <p:nvSpPr>
          <p:cNvPr id="446" name="Shape 444"/>
          <p:cNvSpPr/>
          <p:nvPr/>
        </p:nvSpPr>
        <p:spPr>
          <a:xfrm>
            <a:off x="4663440" y="3291840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7" name="Text 445"/>
          <p:cNvSpPr/>
          <p:nvPr/>
        </p:nvSpPr>
        <p:spPr>
          <a:xfrm>
            <a:off x="4828032" y="32735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13,868 kernel launches / step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eager launch overhead dominates; many kernels run &lt; 20 µs</a:t>
            </a:r>
            <a:endParaRPr lang="en-US" sz="1050" dirty="0"/>
          </a:p>
        </p:txBody>
      </p:sp>
      <p:sp>
        <p:nvSpPr>
          <p:cNvPr id="448" name="Shape 446"/>
          <p:cNvSpPr/>
          <p:nvPr/>
        </p:nvSpPr>
        <p:spPr>
          <a:xfrm>
            <a:off x="457200" y="3858768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9" name="Text 447"/>
          <p:cNvSpPr/>
          <p:nvPr/>
        </p:nvSpPr>
        <p:spPr>
          <a:xfrm>
            <a:off x="621792" y="3840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 runs in fp32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2.96B DiT sits outside autocast — half the achievable math rate</a:t>
            </a:r>
            <a:endParaRPr lang="en-US" sz="1050" dirty="0"/>
          </a:p>
        </p:txBody>
      </p:sp>
      <p:sp>
        <p:nvSpPr>
          <p:cNvPr id="450" name="Shape 448"/>
          <p:cNvSpPr/>
          <p:nvPr/>
        </p:nvSpPr>
        <p:spPr>
          <a:xfrm>
            <a:off x="4663440" y="3858768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1" name="Text 449"/>
          <p:cNvSpPr/>
          <p:nvPr/>
        </p:nvSpPr>
        <p:spPr>
          <a:xfrm>
            <a:off x="4828032" y="3840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work inside forward() — </a:t>
            </a:r>
            <a:pPr indent="0" marL="0">
              <a:buNone/>
            </a:pPr>
            <a:r>
              <a:rPr lang="en-US" sz="10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HF preprocessing + per-step syncs serialize CPU and GPU</a:t>
            </a:r>
            <a:endParaRPr lang="en-US" sz="1050" dirty="0"/>
          </a:p>
        </p:txBody>
      </p:sp>
      <p:sp>
        <p:nvSpPr>
          <p:cNvPr id="452" name="Text 450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53" name="Text 451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454" name="Shape 452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55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Six measured steps, ms per step — each level profiled on the same node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166513" y="1325880"/>
            <a:ext cx="841248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66513" y="1069848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37667" y="1325880"/>
            <a:ext cx="841248" cy="63539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Shape 16"/>
          <p:cNvSpPr/>
          <p:nvPr/>
        </p:nvSpPr>
        <p:spPr>
          <a:xfrm>
            <a:off x="2007761" y="132588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2237667" y="10881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-218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37667" y="198870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7850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08822" y="1961274"/>
            <a:ext cx="841248" cy="10784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8915" y="1961274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308822" y="172353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-37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08822" y="209654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139005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torch 2.7.1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NCCL 2.26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79976" y="2069116"/>
            <a:ext cx="841248" cy="34101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8" name="Shape 26"/>
          <p:cNvSpPr/>
          <p:nvPr/>
        </p:nvSpPr>
        <p:spPr>
          <a:xfrm>
            <a:off x="4150070" y="2069116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379976" y="183137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-117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79976" y="243756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210159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51130" y="2410130"/>
            <a:ext cx="841248" cy="8744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33" name="Shape 31"/>
          <p:cNvSpPr/>
          <p:nvPr/>
        </p:nvSpPr>
        <p:spPr>
          <a:xfrm>
            <a:off x="5221224" y="241013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5451130" y="217238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-30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51130" y="2525001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281313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522285" y="2497569"/>
            <a:ext cx="841248" cy="3701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38" name="Shape 36"/>
          <p:cNvSpPr/>
          <p:nvPr/>
        </p:nvSpPr>
        <p:spPr>
          <a:xfrm>
            <a:off x="6292378" y="2497569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6522285" y="2259825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-126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22285" y="289516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52467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363533" y="2867730"/>
            <a:ext cx="229906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7593439" y="2931852"/>
            <a:ext cx="841248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Text 42"/>
          <p:cNvSpPr/>
          <p:nvPr/>
        </p:nvSpPr>
        <p:spPr>
          <a:xfrm>
            <a:off x="7593439" y="2675820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423622" y="3730752"/>
            <a:ext cx="11808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tuning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51560" y="4187952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Ladder levels measured with nsys attached on rank 0 (~5% overhead); final 249 ms is the clean steady-state p50 of the merged main branch (bucket 1.5e9 + reduce_scatter off).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50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First Wins: bf16 Head + Software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545 ms.  The two cheapest changes bought 32%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action head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−218 ms (800 → 582)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2.96B DiT ran in fp32 — one config knob moves it under bf16 autocast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Loss &amp; timestep math stay fp32; same-seed 100-step loss trajectory unchanged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Single-switch rollback: dit_dtype=none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icons/m48-rocket-3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002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torch 2.7.1 + NCCL 2.26.2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−37 ms (582 → 545)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93776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Container-level upgrade, zero code change (plus triton 3.3.1)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eager kernels and NCCL launch path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Prerequisite for the CUDA-Graph work (slide 8)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Takeaway: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audit precision policy and framework versions before touching any code — they set the floor everything else stands on.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0" name="Image 2" descr="/app/logos/nvidia-logo-blk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Keep the GPU Fed: Pipeline &amp; Syncs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398 ms.  CPU work off the critical path, no per-step syncs, right attention per stack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43484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DataLoader workers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(tokenize + image patches) runs in 8 workers, overlapped with the previous step's GPU work; batches arrive as pinned CPU tensors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 forward-path CPU removed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 copies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 overlaps upload with the ZeRO-2 optimizer tail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H2D off the critical path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removes 2 device syncs / step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 and cached — they depend only on the image grid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Mixed attention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on FA2 varlen (one kernel per layer for all 16 images); text stays SDPA — at seq 192 FA2's unpad/repad is a net loss (measured)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977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Principle: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training step should launch GPU work and get out of the way — anything the CPU must compute belongs in workers or caches, and anything that reads a GPU value blocks the launch pipeline.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&amp; torch.compile: −126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ms.  Replay the whole network as six graphs instead of ~14k eager launches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417320"/>
            <a:ext cx="44804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Whole-model compile is blocked: the hybrid GDN layers (fla library) graph-break in dynamo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So we capture around it: 32 text layers grouped into 4 CUDA Graphs of 8 layers each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Vision tower captured as a single graph (FA2 kernels inside, host-cached max_seqlen)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make it possible: text fixed at 192, encoder padded to 192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Sync-free multimodal merge: removed a device-to-host validation readback in the image-token scatter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06362" y="3657600"/>
            <a:ext cx="4480438" cy="65836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Shape 4"/>
          <p:cNvSpPr/>
          <p:nvPr/>
        </p:nvSpPr>
        <p:spPr>
          <a:xfrm>
            <a:off x="4206362" y="3657600"/>
            <a:ext cx="54864" cy="6583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5"/>
          <p:cNvSpPr/>
          <p:nvPr/>
        </p:nvSpPr>
        <p:spPr>
          <a:xfrm>
            <a:off x="4389242" y="3657600"/>
            <a:ext cx="42061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596656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59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539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45496" y="3063240"/>
            <a:ext cx="407118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52614" y="3063240"/>
            <a:ext cx="1695881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52614" y="3063240"/>
            <a:ext cx="169588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03359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866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2026-07-22T04:04:49Z</dcterms:created>
  <dcterms:modified xsi:type="dcterms:W3CDTF">2026-07-22T04:04:49Z</dcterms:modified>
</cp:coreProperties>
</file>